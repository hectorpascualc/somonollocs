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Nunito"/>
      <p:regular r:id="rId59"/>
      <p:bold r:id="rId60"/>
      <p:italic r:id="rId61"/>
      <p:boldItalic r:id="rId62"/>
    </p:embeddedFont>
    <p:embeddedFont>
      <p:font typeface="Maven Pro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gORYWyqueYEOBTxAShCourlQRF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Nunito-boldItalic.fntdata"/><Relationship Id="rId61" Type="http://schemas.openxmlformats.org/officeDocument/2006/relationships/font" Target="fonts/Nunito-italic.fntdata"/><Relationship Id="rId20" Type="http://schemas.openxmlformats.org/officeDocument/2006/relationships/slide" Target="slides/slide14.xml"/><Relationship Id="rId64" Type="http://schemas.openxmlformats.org/officeDocument/2006/relationships/font" Target="fonts/MavenPro-bold.fntdata"/><Relationship Id="rId63" Type="http://schemas.openxmlformats.org/officeDocument/2006/relationships/font" Target="fonts/MavenPro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Nunit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Nunito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5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55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55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55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55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55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55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5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55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55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55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55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55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55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55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5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5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5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5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55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55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5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55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55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55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55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55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55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5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5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55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5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5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5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5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5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5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5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5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5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6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60" name="Google Shape;60;p6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6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3" name="Google Shape;63;p6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6" name="Google Shape;66;p6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7" name="Google Shape;67;p6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6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6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70" name="Google Shape;70;p6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6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6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6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74" name="Google Shape;74;p6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6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6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6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6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9" name="Google Shape;79;p6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80" name="Google Shape;80;p6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6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6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83" name="Google Shape;83;p6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6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6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6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7" name="Google Shape;87;p6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6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6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6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6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92" name="Google Shape;92;p6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6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6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6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6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7" name="Google Shape;97;p6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6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6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3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63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6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6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6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6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6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6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6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15" name="Google Shape;115;p6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65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65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6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66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22" name="Google Shape;122;p66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3" name="Google Shape;123;p6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6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66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" name="Google Shape;126;p66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7" name="Google Shape;127;p66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6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6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66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31" name="Google Shape;131;p6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6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" name="Google Shape;133;p66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6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6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7" name="Google Shape;137;p6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6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67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67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1" name="Google Shape;141;p67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2" name="Google Shape;142;p6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68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6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6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6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6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6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6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6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6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6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6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6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6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6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6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6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6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6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6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6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6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6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6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6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6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6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6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6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6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6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6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6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6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6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6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6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6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6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6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6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6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6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6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6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6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6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6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6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6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6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6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6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6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6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6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6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6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6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6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6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6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6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6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6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6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6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6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6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6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6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6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6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6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6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6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6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6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6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6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6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6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6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6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6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6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6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6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6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6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6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6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6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6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6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6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6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6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6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6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6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6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6666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68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68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6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5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79" name="Google Shape;279;p5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5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5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3" name="Google Shape;283;p5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58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286" name="Google Shape;286;p5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58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89" name="Google Shape;289;p5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69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292" name="Google Shape;292;p69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293" name="Google Shape;293;p69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69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p69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96" name="Google Shape;296;p69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69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69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9" name="Google Shape;299;p69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300" name="Google Shape;300;p69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69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69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69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69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05" name="Google Shape;305;p69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69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69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69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69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0" name="Google Shape;310;p69"/>
          <p:cNvGrpSpPr/>
          <p:nvPr/>
        </p:nvGrpSpPr>
        <p:grpSpPr>
          <a:xfrm>
            <a:off x="5043503" y="0"/>
            <a:ext cx="3814072" cy="3839100"/>
            <a:chOff x="5043503" y="0"/>
            <a:chExt cx="3814072" cy="3839100"/>
          </a:xfrm>
        </p:grpSpPr>
        <p:sp>
          <p:nvSpPr>
            <p:cNvPr id="311" name="Google Shape;311;p69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69"/>
            <p:cNvSpPr/>
            <p:nvPr/>
          </p:nvSpPr>
          <p:spPr>
            <a:xfrm rot="-9830444">
              <a:off x="6469759" y="3480726"/>
              <a:ext cx="320148" cy="320148"/>
            </a:xfrm>
            <a:prstGeom prst="ellipse">
              <a:avLst/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" name="Google Shape;313;p69"/>
            <p:cNvGrpSpPr/>
            <p:nvPr/>
          </p:nvGrpSpPr>
          <p:grpSpPr>
            <a:xfrm>
              <a:off x="7647812" y="2704283"/>
              <a:ext cx="635220" cy="635219"/>
              <a:chOff x="6725724" y="2701260"/>
              <a:chExt cx="1208101" cy="1208100"/>
            </a:xfrm>
          </p:grpSpPr>
          <p:sp>
            <p:nvSpPr>
              <p:cNvPr id="314" name="Google Shape;314;p69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69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69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69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69"/>
            <p:cNvGrpSpPr/>
            <p:nvPr/>
          </p:nvGrpSpPr>
          <p:grpSpPr>
            <a:xfrm>
              <a:off x="7952716" y="179238"/>
              <a:ext cx="873165" cy="873002"/>
              <a:chOff x="7754428" y="208725"/>
              <a:chExt cx="541800" cy="541800"/>
            </a:xfrm>
          </p:grpSpPr>
          <p:sp>
            <p:nvSpPr>
              <p:cNvPr id="319" name="Google Shape;319;p6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6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69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69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9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9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9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9"/>
            <p:cNvSpPr/>
            <p:nvPr/>
          </p:nvSpPr>
          <p:spPr>
            <a:xfrm rot="-9830444">
              <a:off x="6469759" y="3480725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69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69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6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71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334" name="Google Shape;334;p7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335" name="Google Shape;335;p71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71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71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338" name="Google Shape;338;p71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71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71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71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42" name="Google Shape;342;p71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71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7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71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6" name="Google Shape;346;p71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347" name="Google Shape;347;p71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48" name="Google Shape;348;p71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71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71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351" name="Google Shape;351;p71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71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71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7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355" name="Google Shape;355;p71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71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71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71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71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360" name="Google Shape;360;p71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71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71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71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7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5" name="Google Shape;365;p71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7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7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369" name="Google Shape;369;p7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7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7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2" name="Google Shape;372;p72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3" name="Google Shape;373;p72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4" name="Google Shape;374;p7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7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377" name="Google Shape;377;p7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7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7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7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7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383" name="Google Shape;383;p7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74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74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7" name="Google Shape;387;p7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75"/>
          <p:cNvGrpSpPr/>
          <p:nvPr/>
        </p:nvGrpSpPr>
        <p:grpSpPr>
          <a:xfrm>
            <a:off x="6866714" y="1359"/>
            <a:ext cx="2267522" cy="2601637"/>
            <a:chOff x="6790514" y="1359"/>
            <a:chExt cx="2267522" cy="2601637"/>
          </a:xfrm>
        </p:grpSpPr>
        <p:grpSp>
          <p:nvGrpSpPr>
            <p:cNvPr id="390" name="Google Shape;390;p75"/>
            <p:cNvGrpSpPr/>
            <p:nvPr/>
          </p:nvGrpSpPr>
          <p:grpSpPr>
            <a:xfrm>
              <a:off x="7067678" y="1359"/>
              <a:ext cx="1990358" cy="1990303"/>
              <a:chOff x="7067678" y="1359"/>
              <a:chExt cx="1990358" cy="1990303"/>
            </a:xfrm>
          </p:grpSpPr>
          <p:sp>
            <p:nvSpPr>
              <p:cNvPr id="391" name="Google Shape;391;p7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7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75"/>
              <p:cNvSpPr/>
              <p:nvPr/>
            </p:nvSpPr>
            <p:spPr>
              <a:xfrm rot="-8649154">
                <a:off x="7350033" y="283809"/>
                <a:ext cx="1425647" cy="1425404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75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395" name="Google Shape;395;p75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7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7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75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399" name="Google Shape;399;p7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7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1" name="Google Shape;401;p7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2" name="Google Shape;402;p7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7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405" name="Google Shape;405;p7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7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p76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8" name="Google Shape;408;p76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" name="Google Shape;409;p76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0" name="Google Shape;410;p7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77"/>
          <p:cNvGrpSpPr/>
          <p:nvPr/>
        </p:nvGrpSpPr>
        <p:grpSpPr>
          <a:xfrm>
            <a:off x="46" y="4099200"/>
            <a:ext cx="9144042" cy="1044300"/>
            <a:chOff x="46" y="4099200"/>
            <a:chExt cx="9144042" cy="1044300"/>
          </a:xfrm>
        </p:grpSpPr>
        <p:grpSp>
          <p:nvGrpSpPr>
            <p:cNvPr id="413" name="Google Shape;413;p77"/>
            <p:cNvGrpSpPr/>
            <p:nvPr/>
          </p:nvGrpSpPr>
          <p:grpSpPr>
            <a:xfrm>
              <a:off x="46" y="4309200"/>
              <a:ext cx="231622" cy="834300"/>
              <a:chOff x="2688737" y="4301380"/>
              <a:chExt cx="231900" cy="834300"/>
            </a:xfrm>
          </p:grpSpPr>
          <p:sp>
            <p:nvSpPr>
              <p:cNvPr id="414" name="Google Shape;414;p77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77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77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77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8" name="Google Shape;418;p77"/>
            <p:cNvGrpSpPr/>
            <p:nvPr/>
          </p:nvGrpSpPr>
          <p:grpSpPr>
            <a:xfrm>
              <a:off x="371400" y="4099200"/>
              <a:ext cx="231622" cy="1044300"/>
              <a:chOff x="2688737" y="4091380"/>
              <a:chExt cx="231900" cy="1044300"/>
            </a:xfrm>
          </p:grpSpPr>
          <p:sp>
            <p:nvSpPr>
              <p:cNvPr id="419" name="Google Shape;419;p77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77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77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77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77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77"/>
            <p:cNvGrpSpPr/>
            <p:nvPr/>
          </p:nvGrpSpPr>
          <p:grpSpPr>
            <a:xfrm>
              <a:off x="742755" y="4309200"/>
              <a:ext cx="231622" cy="834300"/>
              <a:chOff x="2688737" y="4301380"/>
              <a:chExt cx="231900" cy="834300"/>
            </a:xfrm>
          </p:grpSpPr>
          <p:sp>
            <p:nvSpPr>
              <p:cNvPr id="425" name="Google Shape;425;p77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77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77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77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77"/>
            <p:cNvGrpSpPr/>
            <p:nvPr/>
          </p:nvGrpSpPr>
          <p:grpSpPr>
            <a:xfrm>
              <a:off x="1114109" y="4518900"/>
              <a:ext cx="231622" cy="624600"/>
              <a:chOff x="2688737" y="4511080"/>
              <a:chExt cx="231900" cy="624600"/>
            </a:xfrm>
          </p:grpSpPr>
          <p:sp>
            <p:nvSpPr>
              <p:cNvPr id="430" name="Google Shape;430;p77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77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77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77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434" name="Google Shape;434;p77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77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77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77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77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p77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440" name="Google Shape;440;p77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77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77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77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77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445" name="Google Shape;445;p77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77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77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77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449" name="Google Shape;449;p77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77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77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77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77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4" name="Google Shape;454;p77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455" name="Google Shape;455;p77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77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77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77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" name="Google Shape;459;p77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460" name="Google Shape;460;p77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77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77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77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4" name="Google Shape;464;p77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465" name="Google Shape;465;p77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77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77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77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469" name="Google Shape;469;p77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77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77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77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77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474" name="Google Shape;474;p77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77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77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77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8" name="Google Shape;478;p77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479" name="Google Shape;479;p77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77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77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77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77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4" name="Google Shape;484;p77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485" name="Google Shape;485;p77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77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77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77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77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490" name="Google Shape;490;p77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77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77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77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494" name="Google Shape;494;p77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77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77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77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77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499" name="Google Shape;499;p77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77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77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77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77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4" name="Google Shape;504;p77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505" name="Google Shape;505;p77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77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77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77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77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510" name="Google Shape;510;p77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77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77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77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514" name="Google Shape;514;p77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77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77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77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77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9" name="Google Shape;519;p77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520" name="Google Shape;520;p77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77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77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77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4" name="Google Shape;524;p77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525" name="Google Shape;525;p77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77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77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77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77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530" name="Google Shape;530;p77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77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77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77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534" name="Google Shape;534;p77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77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77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77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5098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8" name="Google Shape;538;p77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9" name="Google Shape;539;p77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0" name="Google Shape;540;p7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75" name="Google Shape;27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76" name="Google Shape;276;p5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"/>
          <p:cNvSpPr txBox="1"/>
          <p:nvPr>
            <p:ph type="ctrTitle"/>
          </p:nvPr>
        </p:nvSpPr>
        <p:spPr>
          <a:xfrm>
            <a:off x="824000" y="404025"/>
            <a:ext cx="7776900" cy="3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ca"/>
              <a:t>Realitza operacions bàsiques d’administració de sistemes operatius, interpretant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ca"/>
              <a:t>requeriments i optimitzant el sistema per al seu ús.</a:t>
            </a:r>
            <a:endParaRPr/>
          </a:p>
        </p:txBody>
      </p:sp>
      <p:sp>
        <p:nvSpPr>
          <p:cNvPr id="546" name="Google Shape;546;p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ca"/>
              <a:t>SMX02 - Sistemes Operatius Monolloc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"/>
          <p:cNvSpPr txBox="1"/>
          <p:nvPr>
            <p:ph type="title"/>
          </p:nvPr>
        </p:nvSpPr>
        <p:spPr>
          <a:xfrm>
            <a:off x="1138175" y="1509650"/>
            <a:ext cx="7030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ca" sz="4000"/>
              <a:t>1.1Configura perfils d’usuari i grup - </a:t>
            </a:r>
            <a:r>
              <a:rPr lang="ca" sz="4000">
                <a:solidFill>
                  <a:srgbClr val="4A86E8"/>
                </a:solidFill>
              </a:rPr>
              <a:t>Windows</a:t>
            </a:r>
            <a:endParaRPr sz="40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Què és un perfil d’usuari?</a:t>
            </a:r>
            <a:endParaRPr/>
          </a:p>
        </p:txBody>
      </p:sp>
      <p:sp>
        <p:nvSpPr>
          <p:cNvPr id="557" name="Google Shape;557;p3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9243"/>
              <a:buNone/>
            </a:pPr>
            <a:r>
              <a:rPr lang="ca" sz="1400"/>
              <a:t>Un perfil d’usuari és un conjunt d’informació que permet a l’usuari disposar de la seva pròpia configuració i forma de treball dins del sistema.</a:t>
            </a:r>
            <a:br>
              <a:rPr lang="ca" sz="1400"/>
            </a:b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9243"/>
              <a:buNone/>
            </a:pPr>
            <a:r>
              <a:rPr lang="ca" sz="1400"/>
              <a:t>Pot incloure:</a:t>
            </a:r>
            <a:br>
              <a:rPr lang="ca" sz="1400"/>
            </a:br>
            <a:endParaRPr sz="1400"/>
          </a:p>
          <a:p>
            <a:pPr indent="-29337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85714"/>
              <a:buFont typeface="Arial"/>
              <a:buChar char="●"/>
            </a:pPr>
            <a:r>
              <a:rPr lang="ca" sz="1400"/>
              <a:t>Ruta d’accés</a:t>
            </a:r>
            <a:br>
              <a:rPr lang="ca" sz="1400"/>
            </a:br>
            <a:endParaRPr sz="1400"/>
          </a:p>
          <a:p>
            <a:pPr indent="-2933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714"/>
              <a:buFont typeface="Arial"/>
              <a:buChar char="●"/>
            </a:pPr>
            <a:r>
              <a:rPr lang="ca" sz="1400"/>
              <a:t>Programes que s’executen a l’inici</a:t>
            </a:r>
            <a:br>
              <a:rPr lang="ca" sz="1400"/>
            </a:br>
            <a:endParaRPr sz="1400"/>
          </a:p>
          <a:p>
            <a:pPr indent="-2933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714"/>
              <a:buFont typeface="Arial"/>
              <a:buChar char="●"/>
            </a:pPr>
            <a:r>
              <a:rPr lang="ca" sz="1400"/>
              <a:t>Preferències personals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9243"/>
              <a:buNone/>
            </a:pPr>
            <a:r>
              <a:t/>
            </a:r>
            <a:endParaRPr sz="1400"/>
          </a:p>
        </p:txBody>
      </p:sp>
      <p:pic>
        <p:nvPicPr>
          <p:cNvPr id="558" name="Google Shape;55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044" y="2313219"/>
            <a:ext cx="3766101" cy="221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Tipus de perfils d’usuari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64" name="Google Shape;564;p4"/>
          <p:cNvSpPr txBox="1"/>
          <p:nvPr>
            <p:ph idx="1" type="body"/>
          </p:nvPr>
        </p:nvSpPr>
        <p:spPr>
          <a:xfrm>
            <a:off x="631275" y="1290875"/>
            <a:ext cx="7895100" cy="3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Perfil d’usuari local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Creat quan un usuari inicia sessió en un equip concret.</a:t>
            </a:r>
            <a:br>
              <a:rPr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Configuració emmagatzemada al disc dur de l’equip.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Perfil d’usuari mòbil de xarxa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Creat per l’administrador i guardat en un servidor.</a:t>
            </a:r>
            <a:br>
              <a:rPr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Es carrega en iniciar sessió a qualsevol equip de la xarxa.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Perfil d’usuari obligatori de xarxa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Similar al perfil mòbil, però només administradors poden modificar-lo.</a:t>
            </a:r>
            <a:br>
              <a:rPr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Ideal per entorns comuns amb configuracions fixes.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Perfil d’usuari temporal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Perfil genèric que s’utilitza quan hi ha errors en carregar el perfil habitual.</a:t>
            </a:r>
            <a:br>
              <a:rPr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Els canvis no es guarden.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Gestió de perfils</a:t>
            </a:r>
            <a:endParaRPr/>
          </a:p>
        </p:txBody>
      </p:sp>
      <p:pic>
        <p:nvPicPr>
          <p:cNvPr id="570" name="Google Shape;5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00" y="177800"/>
            <a:ext cx="7189076" cy="383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Opcions disponibles en la gestió de perfils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76" name="Google Shape;576;p6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/>
              <a:t>Ruta d’accés al perfil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Defineix la ruta d’accés al perfil d’usuari.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Es fa servir per determinar les opcions de configuració en iniciar sessió.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/>
              <a:t>Script d’inici de sessió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Defineix la ruta a l’arxiu de guions d’ordres (scripts) que s’executa en iniciar sessió.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/>
              <a:t>Ruta d’accés local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Especifica el directori on l’usuari emmagatzema els seus arxius.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Ha de ser una ruta absoluta.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/>
              <a:t>Connectar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Permet connectar una unitat de xarxa.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Útil en entorns de treball en xarxa.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Perfils creats</a:t>
            </a:r>
            <a:endParaRPr/>
          </a:p>
        </p:txBody>
      </p:sp>
      <p:pic>
        <p:nvPicPr>
          <p:cNvPr id="582" name="Google Shape;5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6638" y="139700"/>
            <a:ext cx="3662129" cy="38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"/>
          <p:cNvSpPr txBox="1"/>
          <p:nvPr>
            <p:ph type="title"/>
          </p:nvPr>
        </p:nvSpPr>
        <p:spPr>
          <a:xfrm>
            <a:off x="1138175" y="1509650"/>
            <a:ext cx="7030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ca" sz="4000"/>
              <a:t>1.1Configura perfils d’usuari i grup - </a:t>
            </a:r>
            <a:r>
              <a:rPr lang="ca" sz="4000">
                <a:solidFill>
                  <a:srgbClr val="4A86E8"/>
                </a:solidFill>
              </a:rPr>
              <a:t>Linux</a:t>
            </a:r>
            <a:endParaRPr sz="40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d’usuaris a Ubuntu</a:t>
            </a:r>
            <a:endParaRPr/>
          </a:p>
        </p:txBody>
      </p:sp>
      <p:sp>
        <p:nvSpPr>
          <p:cNvPr id="593" name="Google Shape;593;p9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Què es pot fer?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ca">
                <a:solidFill>
                  <a:srgbClr val="000000"/>
                </a:solidFill>
              </a:rPr>
              <a:t>Crear, modificar o eliminar comptes d’usuari del sistema.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ca">
                <a:solidFill>
                  <a:srgbClr val="000000"/>
                </a:solidFill>
              </a:rPr>
              <a:t>Es pot fer de dues maneres: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ca" sz="1300">
                <a:solidFill>
                  <a:srgbClr val="000000"/>
                </a:solidFill>
              </a:rPr>
              <a:t>Mode gràfic</a:t>
            </a:r>
            <a:r>
              <a:rPr lang="ca" sz="1300">
                <a:solidFill>
                  <a:srgbClr val="000000"/>
                </a:solidFill>
              </a:rPr>
              <a:t> (amb interfície visual)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ca" sz="1300">
                <a:solidFill>
                  <a:srgbClr val="000000"/>
                </a:solidFill>
              </a:rPr>
              <a:t>Mode d’ordres</a:t>
            </a:r>
            <a:r>
              <a:rPr lang="ca" sz="1300">
                <a:solidFill>
                  <a:srgbClr val="000000"/>
                </a:solidFill>
              </a:rPr>
              <a:t> (terminal)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Gestió d’usuaris en mode gràfic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99" name="Google Shape;599;p10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Gestió d’usuaris en mode gràfic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ca" sz="1400">
                <a:solidFill>
                  <a:srgbClr val="000000"/>
                </a:solidFill>
              </a:rPr>
              <a:t>Obre la vista general d’</a:t>
            </a:r>
            <a:r>
              <a:rPr b="1" lang="ca" sz="1400">
                <a:solidFill>
                  <a:srgbClr val="000000"/>
                </a:solidFill>
              </a:rPr>
              <a:t>Activitats</a:t>
            </a:r>
            <a:r>
              <a:rPr lang="ca" sz="1400">
                <a:solidFill>
                  <a:srgbClr val="000000"/>
                </a:solidFill>
              </a:rPr>
              <a:t> i cerca </a:t>
            </a:r>
            <a:r>
              <a:rPr b="1" lang="ca" sz="1400">
                <a:solidFill>
                  <a:srgbClr val="000000"/>
                </a:solidFill>
              </a:rPr>
              <a:t>Usuaris</a:t>
            </a:r>
            <a:r>
              <a:rPr lang="ca" sz="1400">
                <a:solidFill>
                  <a:srgbClr val="000000"/>
                </a:solidFill>
              </a:rPr>
              <a:t>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AutoNum type="arabicPeriod"/>
            </a:pPr>
            <a:r>
              <a:rPr lang="ca" sz="1400">
                <a:solidFill>
                  <a:srgbClr val="000000"/>
                </a:solidFill>
              </a:rPr>
              <a:t>A la finestra de configuració: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ca" sz="1400">
                <a:solidFill>
                  <a:srgbClr val="000000"/>
                </a:solidFill>
              </a:rPr>
              <a:t>Fes clic a </a:t>
            </a:r>
            <a:r>
              <a:rPr b="1" lang="ca" sz="1400">
                <a:solidFill>
                  <a:srgbClr val="000000"/>
                </a:solidFill>
              </a:rPr>
              <a:t>Desbloqueja</a:t>
            </a:r>
            <a:r>
              <a:rPr lang="ca" sz="1400">
                <a:solidFill>
                  <a:srgbClr val="000000"/>
                </a:solidFill>
              </a:rPr>
              <a:t> (cal la contrasenya d’administrador).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</a:pPr>
            <a:r>
              <a:rPr lang="ca" sz="1400">
                <a:solidFill>
                  <a:srgbClr val="000000"/>
                </a:solidFill>
              </a:rPr>
              <a:t>Ja pots gestionar els comptes d’usuari.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1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Gestió d’usuaris en mode gràfic - Afegir un nou usuari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Prem el botó </a:t>
            </a:r>
            <a:r>
              <a:rPr b="1" lang="ca">
                <a:solidFill>
                  <a:srgbClr val="000000"/>
                </a:solidFill>
              </a:rPr>
              <a:t>Afegeix usuari</a:t>
            </a:r>
            <a:r>
              <a:rPr lang="ca">
                <a:solidFill>
                  <a:srgbClr val="000000"/>
                </a:solidFill>
              </a:rPr>
              <a:t>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Escull el tipus d’usuari: </a:t>
            </a:r>
            <a:r>
              <a:rPr b="1" lang="ca">
                <a:solidFill>
                  <a:srgbClr val="000000"/>
                </a:solidFill>
              </a:rPr>
              <a:t>Administrador</a:t>
            </a:r>
            <a:r>
              <a:rPr lang="ca">
                <a:solidFill>
                  <a:srgbClr val="000000"/>
                </a:solidFill>
              </a:rPr>
              <a:t> si volem permisos elevats.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Introdueix: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ca">
                <a:solidFill>
                  <a:srgbClr val="000000"/>
                </a:solidFill>
              </a:rPr>
              <a:t>Nom complet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ca">
                <a:solidFill>
                  <a:srgbClr val="000000"/>
                </a:solidFill>
              </a:rPr>
              <a:t>Nom del compte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ca">
                <a:solidFill>
                  <a:srgbClr val="000000"/>
                </a:solidFill>
              </a:rPr>
              <a:t>Contrasenya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Opcional: marcar </a:t>
            </a:r>
            <a:r>
              <a:rPr b="1" lang="ca">
                <a:solidFill>
                  <a:srgbClr val="000000"/>
                </a:solidFill>
              </a:rPr>
              <a:t>Permet a l’usuari establir la contrasenya a l’entrada següent</a:t>
            </a:r>
            <a:r>
              <a:rPr lang="ca">
                <a:solidFill>
                  <a:srgbClr val="000000"/>
                </a:solidFill>
              </a:rPr>
              <a:t>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Creació d’un usuari - Mode gràfic</a:t>
            </a:r>
            <a:endParaRPr/>
          </a:p>
        </p:txBody>
      </p:sp>
      <p:pic>
        <p:nvPicPr>
          <p:cNvPr id="611" name="Google Shape;6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025" y="152400"/>
            <a:ext cx="4648639" cy="38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3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Modificar o eliminar usuaris (mode gràfic)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17" name="Google Shape;617;p13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A la finestra d’</a:t>
            </a:r>
            <a:r>
              <a:rPr b="1" lang="ca" sz="1400">
                <a:solidFill>
                  <a:srgbClr val="000000"/>
                </a:solidFill>
              </a:rPr>
              <a:t>Usuaris</a:t>
            </a:r>
            <a:r>
              <a:rPr lang="ca" sz="1400">
                <a:solidFill>
                  <a:srgbClr val="000000"/>
                </a:solidFill>
              </a:rPr>
              <a:t> podem: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Modificar paràmetres de comptes creats.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Activar/desactivar </a:t>
            </a:r>
            <a:r>
              <a:rPr b="1" lang="ca" sz="1400">
                <a:solidFill>
                  <a:srgbClr val="000000"/>
                </a:solidFill>
              </a:rPr>
              <a:t>Entrada automàtica</a:t>
            </a:r>
            <a:r>
              <a:rPr lang="ca" sz="1400">
                <a:solidFill>
                  <a:srgbClr val="000000"/>
                </a:solidFill>
              </a:rPr>
              <a:t> (⚠️ no recomanada per seguretat).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Eliminar un usuari</a:t>
            </a:r>
            <a:r>
              <a:rPr lang="ca" sz="1400">
                <a:solidFill>
                  <a:srgbClr val="000000"/>
                </a:solidFill>
              </a:rPr>
              <a:t>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Botó </a:t>
            </a:r>
            <a:r>
              <a:rPr b="1" lang="ca" sz="1400">
                <a:solidFill>
                  <a:srgbClr val="000000"/>
                </a:solidFill>
              </a:rPr>
              <a:t>Suprimeix l’usuari</a:t>
            </a:r>
            <a:r>
              <a:rPr lang="ca" sz="1400">
                <a:solidFill>
                  <a:srgbClr val="000000"/>
                </a:solidFill>
              </a:rPr>
              <a:t>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Es pot escollir: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ca" sz="1400">
                <a:solidFill>
                  <a:srgbClr val="000000"/>
                </a:solidFill>
              </a:rPr>
              <a:t>Suprimir els fitxers</a:t>
            </a:r>
            <a:r>
              <a:rPr lang="ca" sz="1400">
                <a:solidFill>
                  <a:srgbClr val="000000"/>
                </a:solidFill>
              </a:rPr>
              <a:t>: elimina definitivament els arxius.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ca" sz="1400">
                <a:solidFill>
                  <a:srgbClr val="000000"/>
                </a:solidFill>
              </a:rPr>
              <a:t>Conserva els fitxers</a:t>
            </a:r>
            <a:r>
              <a:rPr lang="ca" sz="1400">
                <a:solidFill>
                  <a:srgbClr val="000000"/>
                </a:solidFill>
              </a:rPr>
              <a:t>: manté els arxius personals.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4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Gestió d’usuaris per terminal (mode d’ordres)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 txBox="1"/>
          <p:nvPr>
            <p:ph idx="1" type="body"/>
          </p:nvPr>
        </p:nvSpPr>
        <p:spPr>
          <a:xfrm>
            <a:off x="636300" y="1163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ca" sz="1235">
                <a:solidFill>
                  <a:srgbClr val="000000"/>
                </a:solidFill>
              </a:rPr>
              <a:t>Crear usuaris amb </a:t>
            </a:r>
            <a:r>
              <a:rPr b="1" lang="ca" sz="1235">
                <a:solidFill>
                  <a:srgbClr val="188038"/>
                </a:solidFill>
              </a:rPr>
              <a:t>useradd</a:t>
            </a:r>
            <a:endParaRPr b="1" sz="1235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3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ca" sz="1235">
                <a:solidFill>
                  <a:srgbClr val="188038"/>
                </a:solidFill>
              </a:rPr>
              <a:t>useradd [opcions] compte_usuari</a:t>
            </a:r>
            <a:endParaRPr sz="1235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3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ca" sz="1235">
                <a:solidFill>
                  <a:srgbClr val="000000"/>
                </a:solidFill>
              </a:rPr>
              <a:t>Exemple senzill:</a:t>
            </a:r>
            <a:endParaRPr sz="123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ca" sz="1235">
                <a:solidFill>
                  <a:srgbClr val="188038"/>
                </a:solidFill>
              </a:rPr>
              <a:t>useradd nom_usuari</a:t>
            </a:r>
            <a:endParaRPr sz="1235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3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ca" sz="1235">
                <a:solidFill>
                  <a:srgbClr val="000000"/>
                </a:solidFill>
              </a:rPr>
              <a:t>Opcions principals:</a:t>
            </a:r>
            <a:endParaRPr b="1" sz="1235">
              <a:solidFill>
                <a:srgbClr val="000000"/>
              </a:solidFill>
            </a:endParaRPr>
          </a:p>
          <a:p>
            <a:pPr indent="-3070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lang="ca" sz="1235">
                <a:solidFill>
                  <a:srgbClr val="188038"/>
                </a:solidFill>
              </a:rPr>
              <a:t>-d</a:t>
            </a:r>
            <a:r>
              <a:rPr lang="ca" sz="1235">
                <a:solidFill>
                  <a:srgbClr val="000000"/>
                </a:solidFill>
              </a:rPr>
              <a:t> ➤ Defineix el directori </a:t>
            </a:r>
            <a:r>
              <a:rPr i="1" lang="ca" sz="1235">
                <a:solidFill>
                  <a:srgbClr val="000000"/>
                </a:solidFill>
              </a:rPr>
              <a:t>home</a:t>
            </a:r>
            <a:r>
              <a:rPr lang="ca" sz="1235">
                <a:solidFill>
                  <a:srgbClr val="000000"/>
                </a:solidFill>
              </a:rPr>
              <a:t> (</a:t>
            </a:r>
            <a:r>
              <a:rPr lang="ca" sz="1235">
                <a:solidFill>
                  <a:srgbClr val="188038"/>
                </a:solidFill>
              </a:rPr>
              <a:t>/home/nom_usuari</a:t>
            </a:r>
            <a:r>
              <a:rPr lang="ca" sz="1235">
                <a:solidFill>
                  <a:srgbClr val="000000"/>
                </a:solidFill>
              </a:rPr>
              <a:t>)</a:t>
            </a:r>
            <a:br>
              <a:rPr lang="ca" sz="1235">
                <a:solidFill>
                  <a:srgbClr val="000000"/>
                </a:solidFill>
              </a:rPr>
            </a:br>
            <a:endParaRPr sz="1235">
              <a:solidFill>
                <a:srgbClr val="000000"/>
              </a:solidFill>
            </a:endParaRPr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lang="ca" sz="1235">
                <a:solidFill>
                  <a:srgbClr val="188038"/>
                </a:solidFill>
              </a:rPr>
              <a:t>-g</a:t>
            </a:r>
            <a:r>
              <a:rPr lang="ca" sz="1235">
                <a:solidFill>
                  <a:srgbClr val="000000"/>
                </a:solidFill>
              </a:rPr>
              <a:t> ➤ Defineix el grup per defecte</a:t>
            </a:r>
            <a:br>
              <a:rPr lang="ca" sz="1235">
                <a:solidFill>
                  <a:srgbClr val="000000"/>
                </a:solidFill>
              </a:rPr>
            </a:br>
            <a:endParaRPr sz="1235">
              <a:solidFill>
                <a:srgbClr val="000000"/>
              </a:solidFill>
            </a:endParaRPr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lang="ca" sz="1235">
                <a:solidFill>
                  <a:srgbClr val="188038"/>
                </a:solidFill>
              </a:rPr>
              <a:t>-G</a:t>
            </a:r>
            <a:r>
              <a:rPr lang="ca" sz="1235">
                <a:solidFill>
                  <a:srgbClr val="000000"/>
                </a:solidFill>
              </a:rPr>
              <a:t> ➤ Defineix grups addicionals</a:t>
            </a:r>
            <a:br>
              <a:rPr lang="ca" sz="1235">
                <a:solidFill>
                  <a:srgbClr val="000000"/>
                </a:solidFill>
              </a:rPr>
            </a:br>
            <a:endParaRPr sz="1235">
              <a:solidFill>
                <a:srgbClr val="000000"/>
              </a:solidFill>
            </a:endParaRPr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lang="ca" sz="1235">
                <a:solidFill>
                  <a:srgbClr val="188038"/>
                </a:solidFill>
              </a:rPr>
              <a:t>-u</a:t>
            </a:r>
            <a:r>
              <a:rPr lang="ca" sz="1235">
                <a:solidFill>
                  <a:srgbClr val="000000"/>
                </a:solidFill>
              </a:rPr>
              <a:t> ➤ Defineix l’identificador d’usuari (UID)</a:t>
            </a:r>
            <a:br>
              <a:rPr lang="ca" sz="1235">
                <a:solidFill>
                  <a:srgbClr val="000000"/>
                </a:solidFill>
              </a:rPr>
            </a:br>
            <a:endParaRPr sz="1235">
              <a:solidFill>
                <a:srgbClr val="000000"/>
              </a:solidFill>
            </a:endParaRPr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lang="ca" sz="1235">
                <a:solidFill>
                  <a:srgbClr val="188038"/>
                </a:solidFill>
              </a:rPr>
              <a:t>-s</a:t>
            </a:r>
            <a:r>
              <a:rPr lang="ca" sz="1235">
                <a:solidFill>
                  <a:srgbClr val="000000"/>
                </a:solidFill>
              </a:rPr>
              <a:t> ➤ Defineix el </a:t>
            </a:r>
            <a:r>
              <a:rPr i="1" lang="ca" sz="1235">
                <a:solidFill>
                  <a:srgbClr val="000000"/>
                </a:solidFill>
              </a:rPr>
              <a:t>shell</a:t>
            </a:r>
            <a:r>
              <a:rPr lang="ca" sz="1235">
                <a:solidFill>
                  <a:srgbClr val="000000"/>
                </a:solidFill>
              </a:rPr>
              <a:t> per defecte (habitualment </a:t>
            </a:r>
            <a:r>
              <a:rPr lang="ca" sz="1235">
                <a:solidFill>
                  <a:srgbClr val="188038"/>
                </a:solidFill>
              </a:rPr>
              <a:t>bash</a:t>
            </a:r>
            <a:r>
              <a:rPr lang="ca" sz="1235">
                <a:solidFill>
                  <a:srgbClr val="000000"/>
                </a:solidFill>
              </a:rPr>
              <a:t>)</a:t>
            </a:r>
            <a:endParaRPr sz="140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5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Assignació de contrasenyes amb </a:t>
            </a:r>
            <a:r>
              <a:rPr lang="ca">
                <a:solidFill>
                  <a:srgbClr val="188038"/>
                </a:solidFill>
              </a:rPr>
              <a:t>passwd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passwd [opcions] [compte_usuari]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Permet assignar o canviar la contrasenya d’un usuari.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També permet gestionar la validesa de la contrasenya.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🔧 Opcions destacades: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-l ➤ Desactiva el compte temporalment.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-x ➤ Defineix la durada màxima de la contrasenya.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-e ➤ Obliga a canviar la contrasenya en el proper inici de sessió.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-S ➤ Mostra l’estat de la contrasenya d’un usuari.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6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Modificar usuaris amb </a:t>
            </a:r>
            <a:r>
              <a:rPr lang="ca">
                <a:solidFill>
                  <a:srgbClr val="188038"/>
                </a:solidFill>
              </a:rPr>
              <a:t>usermod</a:t>
            </a:r>
            <a:endParaRPr>
              <a:solidFill>
                <a:srgbClr val="188038"/>
              </a:solidFill>
            </a:endParaRPr>
          </a:p>
        </p:txBody>
      </p:sp>
      <p:sp>
        <p:nvSpPr>
          <p:cNvPr id="635" name="Google Shape;635;p16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usermod [opcions] compte_usuari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🔧 Opcions més comunes: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-c ➤ Afegeix informació personal.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-d ➤ Assigna un nou directori personal.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-g ➤ Canvia el grup principal de l’usuari.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7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Eliminar usuaris amb </a:t>
            </a:r>
            <a:r>
              <a:rPr lang="ca">
                <a:solidFill>
                  <a:srgbClr val="188038"/>
                </a:solidFill>
              </a:rPr>
              <a:t>userdel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41" name="Google Shape;641;p17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userdel [opcions] [compte_usuari]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🔧 Opcions més habituals: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-r, --remove ➤ Elimina el directori /home i els fitxers de l’usuari.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-f, --force ➤ Força l’eliminació encara que hi hagi sessions obertes.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Fitxers de configuració d’usuaris a Linux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📁 Arxius principals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ca" sz="1400">
                <a:solidFill>
                  <a:srgbClr val="188038"/>
                </a:solidFill>
              </a:rPr>
              <a:t>/etc/passwd</a:t>
            </a:r>
            <a:br>
              <a:rPr b="1" lang="ca" sz="1400">
                <a:solidFill>
                  <a:srgbClr val="188038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Conté informació bàsica dels comptes d’usuari.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ca" sz="1400">
                <a:solidFill>
                  <a:srgbClr val="188038"/>
                </a:solidFill>
              </a:rPr>
              <a:t>/etc/shadow</a:t>
            </a:r>
            <a:br>
              <a:rPr b="1" lang="ca" sz="1400">
                <a:solidFill>
                  <a:srgbClr val="188038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Emmagatzema contrasenyes encriptades i informació de seguretat.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Fitxers de configuració d’usuaris a Linux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🔍 Format dels fitxers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Cada fitxer està format per </a:t>
            </a:r>
            <a:r>
              <a:rPr b="1" lang="ca" sz="1400">
                <a:solidFill>
                  <a:srgbClr val="000000"/>
                </a:solidFill>
              </a:rPr>
              <a:t>línies</a:t>
            </a:r>
            <a:r>
              <a:rPr lang="ca" sz="1400">
                <a:solidFill>
                  <a:srgbClr val="000000"/>
                </a:solidFill>
              </a:rPr>
              <a:t>, i cada línia representa un </a:t>
            </a:r>
            <a:r>
              <a:rPr b="1" lang="ca" sz="1400">
                <a:solidFill>
                  <a:srgbClr val="000000"/>
                </a:solidFill>
              </a:rPr>
              <a:t>usuari</a:t>
            </a:r>
            <a:r>
              <a:rPr lang="ca" sz="1400">
                <a:solidFill>
                  <a:srgbClr val="000000"/>
                </a:solidFill>
              </a:rPr>
              <a:t>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Cada línia es divideix en </a:t>
            </a:r>
            <a:r>
              <a:rPr b="1" lang="ca" sz="1400">
                <a:solidFill>
                  <a:srgbClr val="000000"/>
                </a:solidFill>
              </a:rPr>
              <a:t>camps separats per dos punts (</a:t>
            </a:r>
            <a:r>
              <a:rPr b="1" lang="ca" sz="1400">
                <a:solidFill>
                  <a:srgbClr val="188038"/>
                </a:solidFill>
              </a:rPr>
              <a:t>:</a:t>
            </a:r>
            <a:r>
              <a:rPr b="1" lang="ca" sz="1400">
                <a:solidFill>
                  <a:srgbClr val="000000"/>
                </a:solidFill>
              </a:rPr>
              <a:t>)</a:t>
            </a:r>
            <a:r>
              <a:rPr lang="ca" sz="1400">
                <a:solidFill>
                  <a:srgbClr val="000000"/>
                </a:solidFill>
              </a:rPr>
              <a:t>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Exemple de camps: nom d’usuari, UID, GID, </a:t>
            </a:r>
            <a:r>
              <a:rPr i="1" lang="ca" sz="1400">
                <a:solidFill>
                  <a:srgbClr val="000000"/>
                </a:solidFill>
              </a:rPr>
              <a:t>home</a:t>
            </a:r>
            <a:r>
              <a:rPr lang="ca" sz="1400">
                <a:solidFill>
                  <a:srgbClr val="000000"/>
                </a:solidFill>
              </a:rPr>
              <a:t>, </a:t>
            </a:r>
            <a:r>
              <a:rPr i="1" lang="ca" sz="1400">
                <a:solidFill>
                  <a:srgbClr val="000000"/>
                </a:solidFill>
              </a:rPr>
              <a:t>shell</a:t>
            </a:r>
            <a:r>
              <a:rPr lang="ca" sz="1400">
                <a:solidFill>
                  <a:srgbClr val="000000"/>
                </a:solidFill>
              </a:rPr>
              <a:t>, etc.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0"/>
          <p:cNvSpPr txBox="1"/>
          <p:nvPr>
            <p:ph idx="1" type="body"/>
          </p:nvPr>
        </p:nvSpPr>
        <p:spPr>
          <a:xfrm>
            <a:off x="1253000" y="44691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Arxiu ’/etc/passwd’</a:t>
            </a:r>
            <a:endParaRPr/>
          </a:p>
        </p:txBody>
      </p:sp>
      <p:pic>
        <p:nvPicPr>
          <p:cNvPr id="659" name="Google Shape;6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275" y="114300"/>
            <a:ext cx="8356600" cy="41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1"/>
          <p:cNvSpPr txBox="1"/>
          <p:nvPr>
            <p:ph idx="1" type="body"/>
          </p:nvPr>
        </p:nvSpPr>
        <p:spPr>
          <a:xfrm>
            <a:off x="1265700" y="44818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Arxiu ’/etc/shadow</a:t>
            </a:r>
            <a:endParaRPr/>
          </a:p>
        </p:txBody>
      </p:sp>
      <p:pic>
        <p:nvPicPr>
          <p:cNvPr id="665" name="Google Shape;6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" y="191400"/>
            <a:ext cx="8126200" cy="40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"/>
          <p:cNvSpPr txBox="1"/>
          <p:nvPr>
            <p:ph type="title"/>
          </p:nvPr>
        </p:nvSpPr>
        <p:spPr>
          <a:xfrm>
            <a:off x="920125" y="92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Camps de l’arxiu </a:t>
            </a:r>
            <a:r>
              <a:rPr lang="ca">
                <a:solidFill>
                  <a:srgbClr val="188038"/>
                </a:solidFill>
              </a:rPr>
              <a:t>/etc/passwd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71" name="Google Shape;671;p22"/>
          <p:cNvSpPr txBox="1"/>
          <p:nvPr>
            <p:ph idx="1" type="body"/>
          </p:nvPr>
        </p:nvSpPr>
        <p:spPr>
          <a:xfrm>
            <a:off x="654925" y="714675"/>
            <a:ext cx="7871400" cy="4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200">
                <a:solidFill>
                  <a:srgbClr val="000000"/>
                </a:solidFill>
              </a:rPr>
              <a:t>Cada línia representa un usuari i es divideix en 7 camps separats per </a:t>
            </a:r>
            <a:r>
              <a:rPr lang="ca" sz="1200">
                <a:solidFill>
                  <a:srgbClr val="188038"/>
                </a:solidFill>
              </a:rPr>
              <a:t>:</a:t>
            </a:r>
            <a:r>
              <a:rPr lang="ca" sz="1200">
                <a:solidFill>
                  <a:srgbClr val="000000"/>
                </a:solidFill>
              </a:rPr>
              <a:t>: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Nom d’usuari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Identificador del compte d’usuari.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Contrasenya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Normalment conté una </a:t>
            </a:r>
            <a:r>
              <a:rPr lang="ca" sz="1200">
                <a:solidFill>
                  <a:srgbClr val="188038"/>
                </a:solidFill>
              </a:rPr>
              <a:t>x</a:t>
            </a:r>
            <a:r>
              <a:rPr lang="ca" sz="1200">
                <a:solidFill>
                  <a:srgbClr val="000000"/>
                </a:solidFill>
              </a:rPr>
              <a:t>, que indica que la contrasenya es guarda a </a:t>
            </a:r>
            <a:r>
              <a:rPr lang="ca" sz="1200">
                <a:solidFill>
                  <a:srgbClr val="188038"/>
                </a:solidFill>
              </a:rPr>
              <a:t>/etc/shadow</a:t>
            </a:r>
            <a:r>
              <a:rPr lang="ca" sz="1200">
                <a:solidFill>
                  <a:srgbClr val="000000"/>
                </a:solidFill>
              </a:rPr>
              <a:t>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UID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Identificador únic de l’usuari.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GID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Identificador del grup per defecte.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Informació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Informació addicional (nom complet, telèfon…).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Directori personal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Ruta al directori </a:t>
            </a:r>
            <a:r>
              <a:rPr lang="ca" sz="1200">
                <a:solidFill>
                  <a:srgbClr val="188038"/>
                </a:solidFill>
              </a:rPr>
              <a:t>/home</a:t>
            </a:r>
            <a:r>
              <a:rPr lang="ca" sz="1200">
                <a:solidFill>
                  <a:srgbClr val="000000"/>
                </a:solidFill>
              </a:rPr>
              <a:t> de l’usuari.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Terminal per defecte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Shell predeterminat (normalment </a:t>
            </a:r>
            <a:r>
              <a:rPr lang="ca" sz="1200">
                <a:solidFill>
                  <a:srgbClr val="188038"/>
                </a:solidFill>
              </a:rPr>
              <a:t>bash</a:t>
            </a:r>
            <a:r>
              <a:rPr lang="ca" sz="1200">
                <a:solidFill>
                  <a:srgbClr val="000000"/>
                </a:solidFill>
              </a:rPr>
              <a:t>).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3"/>
          <p:cNvSpPr txBox="1"/>
          <p:nvPr>
            <p:ph type="title"/>
          </p:nvPr>
        </p:nvSpPr>
        <p:spPr>
          <a:xfrm>
            <a:off x="920125" y="92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Camps de l’arxiu </a:t>
            </a:r>
            <a:r>
              <a:rPr lang="ca">
                <a:solidFill>
                  <a:srgbClr val="188038"/>
                </a:solidFill>
              </a:rPr>
              <a:t>/etc/shadow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77" name="Google Shape;677;p23"/>
          <p:cNvSpPr txBox="1"/>
          <p:nvPr>
            <p:ph idx="1" type="body"/>
          </p:nvPr>
        </p:nvSpPr>
        <p:spPr>
          <a:xfrm>
            <a:off x="636300" y="879775"/>
            <a:ext cx="78714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200">
                <a:solidFill>
                  <a:srgbClr val="000000"/>
                </a:solidFill>
              </a:rPr>
              <a:t>Conté informació encriptada de la contrasenya i la seva gestió: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Nom d’usuari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Contrasenya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Encriptada, o símbols com </a:t>
            </a:r>
            <a:r>
              <a:rPr lang="ca" sz="1200">
                <a:solidFill>
                  <a:srgbClr val="188038"/>
                </a:solidFill>
              </a:rPr>
              <a:t>*</a:t>
            </a:r>
            <a:r>
              <a:rPr lang="ca" sz="1200">
                <a:solidFill>
                  <a:srgbClr val="000000"/>
                </a:solidFill>
              </a:rPr>
              <a:t> o </a:t>
            </a:r>
            <a:r>
              <a:rPr lang="ca" sz="1200">
                <a:solidFill>
                  <a:srgbClr val="188038"/>
                </a:solidFill>
              </a:rPr>
              <a:t>!</a:t>
            </a:r>
            <a:r>
              <a:rPr lang="ca" sz="1200">
                <a:solidFill>
                  <a:srgbClr val="000000"/>
                </a:solidFill>
              </a:rPr>
              <a:t> si està bloquejat.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Últim canvi de contrasenya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Data en dies des de l’1 de gener de 1970.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Dies fins a permetre un canvi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Dies fins a demanar un canvi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Dies d’avís previs a l’expiració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Dies entre expiració i desactivació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Data d’expiració del compte</a:t>
            </a:r>
            <a:br>
              <a:rPr b="1" lang="ca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ca" sz="1200">
                <a:solidFill>
                  <a:srgbClr val="000000"/>
                </a:solidFill>
              </a:rPr>
              <a:t>Indicador especial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➤ Camp reservat, actualment no s’utilitza</a:t>
            </a:r>
            <a:endParaRPr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4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de grups a Ubuntu</a:t>
            </a:r>
            <a:endParaRPr/>
          </a:p>
        </p:txBody>
      </p:sp>
      <p:sp>
        <p:nvSpPr>
          <p:cNvPr id="683" name="Google Shape;683;p24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🔹 Què són els grups d’usuaris?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Permeten organitzar usuaris amb privilegis o rols comuns.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Un usuari pot </a:t>
            </a:r>
            <a:r>
              <a:rPr b="1" lang="ca" sz="1400">
                <a:solidFill>
                  <a:srgbClr val="000000"/>
                </a:solidFill>
              </a:rPr>
              <a:t>pertànyer a múltiples grups</a:t>
            </a:r>
            <a:r>
              <a:rPr lang="ca" sz="1400">
                <a:solidFill>
                  <a:srgbClr val="000000"/>
                </a:solidFill>
              </a:rPr>
              <a:t>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En la majoria de sistemes GNU/Linux: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ca" sz="1400">
                <a:solidFill>
                  <a:srgbClr val="000000"/>
                </a:solidFill>
              </a:rPr>
              <a:t>Cada usuari pertany com a mínim a </a:t>
            </a:r>
            <a:r>
              <a:rPr b="1" lang="ca" sz="1400">
                <a:solidFill>
                  <a:srgbClr val="000000"/>
                </a:solidFill>
              </a:rPr>
              <a:t>un grup per defecte</a:t>
            </a:r>
            <a:r>
              <a:rPr lang="ca" sz="1400">
                <a:solidFill>
                  <a:srgbClr val="000000"/>
                </a:solidFill>
              </a:rPr>
              <a:t> (amb el mateix nom que l’usuari).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5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de grups a Ubuntu</a:t>
            </a:r>
            <a:endParaRPr/>
          </a:p>
        </p:txBody>
      </p:sp>
      <p:sp>
        <p:nvSpPr>
          <p:cNvPr id="689" name="Google Shape;689;p25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📁 Gestió de grups al sistema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Fitxer principal: </a:t>
            </a:r>
            <a:r>
              <a:rPr b="1" lang="ca" sz="1400">
                <a:solidFill>
                  <a:srgbClr val="188038"/>
                </a:solidFill>
              </a:rPr>
              <a:t>/etc/group</a:t>
            </a:r>
            <a:br>
              <a:rPr b="1" lang="ca" sz="1400">
                <a:solidFill>
                  <a:srgbClr val="188038"/>
                </a:solidFill>
              </a:rPr>
            </a:br>
            <a:endParaRPr b="1" sz="1400">
              <a:solidFill>
                <a:srgbClr val="188038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ca" sz="1400">
                <a:solidFill>
                  <a:srgbClr val="000000"/>
                </a:solidFill>
              </a:rPr>
              <a:t>Conté </a:t>
            </a:r>
            <a:r>
              <a:rPr b="1" lang="ca" sz="1400">
                <a:solidFill>
                  <a:srgbClr val="000000"/>
                </a:solidFill>
              </a:rPr>
              <a:t>la llista de grups</a:t>
            </a:r>
            <a:r>
              <a:rPr lang="ca" sz="1400">
                <a:solidFill>
                  <a:srgbClr val="000000"/>
                </a:solidFill>
              </a:rPr>
              <a:t> del sistema i </a:t>
            </a:r>
            <a:r>
              <a:rPr b="1" lang="ca" sz="1400">
                <a:solidFill>
                  <a:srgbClr val="000000"/>
                </a:solidFill>
              </a:rPr>
              <a:t>els usuaris</a:t>
            </a:r>
            <a:r>
              <a:rPr lang="ca" sz="1400">
                <a:solidFill>
                  <a:srgbClr val="000000"/>
                </a:solidFill>
              </a:rPr>
              <a:t> que hi pertanyen.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</a:pPr>
            <a:r>
              <a:rPr lang="ca" sz="1400">
                <a:solidFill>
                  <a:srgbClr val="000000"/>
                </a:solidFill>
              </a:rPr>
              <a:t>Cada línia representa un grup i els seus membres.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6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Arxiu ’/etc/group’</a:t>
            </a:r>
            <a:endParaRPr/>
          </a:p>
        </p:txBody>
      </p:sp>
      <p:pic>
        <p:nvPicPr>
          <p:cNvPr id="695" name="Google Shape;6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5100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7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Fitxer</a:t>
            </a:r>
            <a:r>
              <a:rPr lang="ca">
                <a:solidFill>
                  <a:srgbClr val="188038"/>
                </a:solidFill>
              </a:rPr>
              <a:t> /etc/group</a:t>
            </a:r>
            <a:r>
              <a:rPr lang="ca"/>
              <a:t>: Estructura i camps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01" name="Google Shape;701;p27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Cada línia del fitxer /etc/group representa un grup i està formada per camps separats per ::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Nom del 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Identificador textual del grup.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Contrasenya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Pot aparèixer com una x (contrasenya amagada a /etc/gshadow) o estar buida.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GID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Identificador numèric del grup.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Llista d’usuaris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➤ Usuaris que pertanyen al grup (separats per comes).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Ordres per gestionar grups (mode terminal)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07" name="Google Shape;707;p28"/>
          <p:cNvSpPr txBox="1"/>
          <p:nvPr>
            <p:ph idx="1" type="body"/>
          </p:nvPr>
        </p:nvSpPr>
        <p:spPr>
          <a:xfrm>
            <a:off x="654925" y="1072875"/>
            <a:ext cx="78714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🔹 Crear 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dd [opcions] nom_grup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-g ➤ Assigna un GID específic.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🔹 Modificar 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groupmod [opcions] nom_grup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-g ➤ Canvia el GID.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-n ➤ Canvia el nom del grup.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🔹 Afegir o eliminar usuaris d’un 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gpasswd [opcions] nom_grup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-a usuari ➤ Afegeix usuari al grup.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-d usuari ➤ Elimina usuari del grup.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🛠️ Altres ordres útils per gestionar usuaris i grups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13" name="Google Shape;713;p29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whoami</a:t>
            </a:r>
            <a:r>
              <a:rPr lang="ca">
                <a:solidFill>
                  <a:srgbClr val="000000"/>
                </a:solidFill>
              </a:rPr>
              <a:t> ➤ Mostra el nom del compte actiu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groups</a:t>
            </a:r>
            <a:r>
              <a:rPr lang="ca">
                <a:solidFill>
                  <a:srgbClr val="000000"/>
                </a:solidFill>
              </a:rPr>
              <a:t> ➤ Mostra els grups d’un usuari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id</a:t>
            </a:r>
            <a:r>
              <a:rPr lang="ca">
                <a:solidFill>
                  <a:srgbClr val="000000"/>
                </a:solidFill>
              </a:rPr>
              <a:t> ➤ Mostra UID, GID i grups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login</a:t>
            </a:r>
            <a:r>
              <a:rPr lang="ca">
                <a:solidFill>
                  <a:srgbClr val="000000"/>
                </a:solidFill>
              </a:rPr>
              <a:t> ➤ Permet canviar d’usuari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who</a:t>
            </a:r>
            <a:r>
              <a:rPr lang="ca">
                <a:solidFill>
                  <a:srgbClr val="000000"/>
                </a:solidFill>
              </a:rPr>
              <a:t> ➤ Llista els usuaris actius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chage</a:t>
            </a:r>
            <a:r>
              <a:rPr lang="ca">
                <a:solidFill>
                  <a:srgbClr val="000000"/>
                </a:solidFill>
              </a:rPr>
              <a:t> ➤ Gestiona la caducitat de contrasenya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chsh</a:t>
            </a:r>
            <a:r>
              <a:rPr lang="ca">
                <a:solidFill>
                  <a:srgbClr val="000000"/>
                </a:solidFill>
              </a:rPr>
              <a:t> ➤ Canvia el </a:t>
            </a:r>
            <a:r>
              <a:rPr i="1" lang="ca">
                <a:solidFill>
                  <a:srgbClr val="000000"/>
                </a:solidFill>
              </a:rPr>
              <a:t>shell</a:t>
            </a:r>
            <a:r>
              <a:rPr lang="ca">
                <a:solidFill>
                  <a:srgbClr val="000000"/>
                </a:solidFill>
              </a:rPr>
              <a:t> per defecte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chfn</a:t>
            </a:r>
            <a:r>
              <a:rPr lang="ca">
                <a:solidFill>
                  <a:srgbClr val="000000"/>
                </a:solidFill>
              </a:rPr>
              <a:t> ➤ Edita dades personals de l’usuari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0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de perfils a GNU/Linux</a:t>
            </a:r>
            <a:endParaRPr/>
          </a:p>
        </p:txBody>
      </p:sp>
      <p:sp>
        <p:nvSpPr>
          <p:cNvPr id="719" name="Google Shape;719;p30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🔹 Què fa el sistema quan inicia sessió un usuari?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Executa tasques per configurar l’entorn personalitzat.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Assigna un </a:t>
            </a:r>
            <a:r>
              <a:rPr b="1" lang="ca" sz="1400">
                <a:solidFill>
                  <a:srgbClr val="000000"/>
                </a:solidFill>
              </a:rPr>
              <a:t>directori d’inici</a:t>
            </a:r>
            <a:r>
              <a:rPr lang="ca" sz="1400">
                <a:solidFill>
                  <a:srgbClr val="000000"/>
                </a:solidFill>
              </a:rPr>
              <a:t> (</a:t>
            </a:r>
            <a:r>
              <a:rPr lang="ca" sz="1400">
                <a:solidFill>
                  <a:srgbClr val="188038"/>
                </a:solidFill>
              </a:rPr>
              <a:t>home</a:t>
            </a:r>
            <a:r>
              <a:rPr lang="ca" sz="1400">
                <a:solidFill>
                  <a:srgbClr val="000000"/>
                </a:solidFill>
              </a:rPr>
              <a:t>) amb fitxers i configuracions pròpies.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de perfils a GNU/Linux</a:t>
            </a:r>
            <a:endParaRPr/>
          </a:p>
        </p:txBody>
      </p:sp>
      <p:sp>
        <p:nvSpPr>
          <p:cNvPr id="725" name="Google Shape;725;p31"/>
          <p:cNvSpPr txBox="1"/>
          <p:nvPr>
            <p:ph idx="1" type="body"/>
          </p:nvPr>
        </p:nvSpPr>
        <p:spPr>
          <a:xfrm>
            <a:off x="654925" y="1006775"/>
            <a:ext cx="7871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📁 Ús del directori </a:t>
            </a:r>
            <a:r>
              <a:rPr b="1" lang="ca">
                <a:solidFill>
                  <a:srgbClr val="188038"/>
                </a:solidFill>
              </a:rPr>
              <a:t>/etc/skel</a:t>
            </a:r>
            <a:endParaRPr b="1">
              <a:solidFill>
                <a:srgbClr val="188038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000000"/>
                </a:solidFill>
              </a:rPr>
              <a:t>Conté la </a:t>
            </a:r>
            <a:r>
              <a:rPr b="1" lang="ca">
                <a:solidFill>
                  <a:srgbClr val="000000"/>
                </a:solidFill>
              </a:rPr>
              <a:t>estructura mínima</a:t>
            </a:r>
            <a:r>
              <a:rPr lang="ca">
                <a:solidFill>
                  <a:srgbClr val="000000"/>
                </a:solidFill>
              </a:rPr>
              <a:t> comuna per als nous usuaris.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000000"/>
                </a:solidFill>
              </a:rPr>
              <a:t>Es copien els seus fitxers automàticament al nou directori d’inici quan es crea un compte amb </a:t>
            </a:r>
            <a:r>
              <a:rPr lang="ca">
                <a:solidFill>
                  <a:srgbClr val="188038"/>
                </a:solidFill>
              </a:rPr>
              <a:t>useradd</a:t>
            </a:r>
            <a:r>
              <a:rPr lang="ca">
                <a:solidFill>
                  <a:srgbClr val="000000"/>
                </a:solidFill>
              </a:rPr>
              <a:t>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📌 Fitxers típics dins </a:t>
            </a:r>
            <a:r>
              <a:rPr lang="ca">
                <a:solidFill>
                  <a:srgbClr val="188038"/>
                </a:solidFill>
              </a:rPr>
              <a:t>/etc/skel</a:t>
            </a:r>
            <a:r>
              <a:rPr lang="ca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ca">
                <a:solidFill>
                  <a:srgbClr val="188038"/>
                </a:solidFill>
              </a:rPr>
              <a:t>.bash_profile</a:t>
            </a:r>
            <a:br>
              <a:rPr b="1" lang="ca">
                <a:solidFill>
                  <a:srgbClr val="188038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S’executa cada vegada que l’usuari accedeix.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ca">
                <a:solidFill>
                  <a:srgbClr val="188038"/>
                </a:solidFill>
              </a:rPr>
              <a:t>.bashrc</a:t>
            </a:r>
            <a:br>
              <a:rPr b="1" lang="ca">
                <a:solidFill>
                  <a:srgbClr val="188038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Configura el shell quan l’usuari inicia una sessió en mode interactiu.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ca">
                <a:solidFill>
                  <a:srgbClr val="188038"/>
                </a:solidFill>
              </a:rPr>
              <a:t>.bash_logout</a:t>
            </a:r>
            <a:br>
              <a:rPr b="1" lang="ca">
                <a:solidFill>
                  <a:srgbClr val="188038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Executat quan l’usuari tanca sessió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2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Contingut del directori ’/etc/skel’</a:t>
            </a:r>
            <a:endParaRPr/>
          </a:p>
        </p:txBody>
      </p:sp>
      <p:pic>
        <p:nvPicPr>
          <p:cNvPr id="731" name="Google Shape;7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88900"/>
            <a:ext cx="5995556" cy="38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3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Gestió de perfils a GNU/Linux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37" name="Google Shape;737;p33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Es pot canviar editant el fitxer:</a:t>
            </a:r>
            <a:br>
              <a:rPr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</a:t>
            </a:r>
            <a:r>
              <a:rPr b="1" lang="ca" sz="1400">
                <a:solidFill>
                  <a:srgbClr val="188038"/>
                </a:solidFill>
              </a:rPr>
              <a:t>/etc/default/useradd</a:t>
            </a:r>
            <a:br>
              <a:rPr b="1" lang="ca" sz="1400">
                <a:solidFill>
                  <a:srgbClr val="188038"/>
                </a:solidFill>
              </a:rPr>
            </a:br>
            <a:endParaRPr b="1" sz="1400">
              <a:solidFill>
                <a:srgbClr val="18803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La línia corresponent és:</a:t>
            </a:r>
            <a:br>
              <a:rPr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</a:t>
            </a:r>
            <a:r>
              <a:rPr b="1" lang="ca" sz="1400">
                <a:solidFill>
                  <a:srgbClr val="188038"/>
                </a:solidFill>
              </a:rPr>
              <a:t>/etc/skel</a:t>
            </a:r>
            <a:br>
              <a:rPr b="1" lang="ca" sz="1400">
                <a:solidFill>
                  <a:srgbClr val="188038"/>
                </a:solidFill>
              </a:rPr>
            </a:br>
            <a:endParaRPr b="1" sz="1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Això permet indicar un altre directori com a plantilla per nous usuaris.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4"/>
          <p:cNvSpPr txBox="1"/>
          <p:nvPr>
            <p:ph type="title"/>
          </p:nvPr>
        </p:nvSpPr>
        <p:spPr>
          <a:xfrm>
            <a:off x="1138175" y="1509650"/>
            <a:ext cx="7030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ca" sz="4000"/>
              <a:t>1.2 Utilitza eines gràfiques per a descriure l’organització dels arxius del sistema - </a:t>
            </a:r>
            <a:r>
              <a:rPr lang="ca" sz="4000">
                <a:solidFill>
                  <a:srgbClr val="4A86E8"/>
                </a:solidFill>
              </a:rPr>
              <a:t>Windows</a:t>
            </a:r>
            <a:endParaRPr sz="40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5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Què és un sistema d’arxius?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48" name="Google Shape;748;p35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Component del sistema operatiu que gestiona: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ca" sz="1400">
                <a:solidFill>
                  <a:srgbClr val="000000"/>
                </a:solidFill>
              </a:rPr>
              <a:t>Creació</a:t>
            </a:r>
            <a:r>
              <a:rPr lang="ca" sz="1400">
                <a:solidFill>
                  <a:srgbClr val="000000"/>
                </a:solidFill>
              </a:rPr>
              <a:t>, </a:t>
            </a:r>
            <a:r>
              <a:rPr b="1" lang="ca" sz="1400">
                <a:solidFill>
                  <a:srgbClr val="000000"/>
                </a:solidFill>
              </a:rPr>
              <a:t>emmagatzematge</a:t>
            </a:r>
            <a:r>
              <a:rPr lang="ca" sz="1400">
                <a:solidFill>
                  <a:srgbClr val="000000"/>
                </a:solidFill>
              </a:rPr>
              <a:t> i </a:t>
            </a:r>
            <a:r>
              <a:rPr b="1" lang="ca" sz="1400">
                <a:solidFill>
                  <a:srgbClr val="000000"/>
                </a:solidFill>
              </a:rPr>
              <a:t>accés</a:t>
            </a:r>
            <a:r>
              <a:rPr lang="ca" sz="1400">
                <a:solidFill>
                  <a:srgbClr val="000000"/>
                </a:solidFill>
              </a:rPr>
              <a:t> als arxius.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Permet a l’usuari treballar còmodament amb les dades.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Organitza les dades en un </a:t>
            </a:r>
            <a:r>
              <a:rPr b="1" lang="ca" sz="1400">
                <a:solidFill>
                  <a:srgbClr val="000000"/>
                </a:solidFill>
              </a:rPr>
              <a:t>model lògic</a:t>
            </a:r>
            <a:r>
              <a:rPr lang="ca" sz="1400">
                <a:solidFill>
                  <a:srgbClr val="000000"/>
                </a:solidFill>
              </a:rPr>
              <a:t>: estructura en </a:t>
            </a:r>
            <a:r>
              <a:rPr b="1" lang="ca" sz="1400">
                <a:solidFill>
                  <a:srgbClr val="000000"/>
                </a:solidFill>
              </a:rPr>
              <a:t>arbre de directoris</a:t>
            </a:r>
            <a:r>
              <a:rPr lang="ca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6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Permisos d’arxiu i directori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54" name="Google Shape;754;p36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9243"/>
              <a:buNone/>
            </a:pPr>
            <a:r>
              <a:rPr lang="ca" sz="1400">
                <a:solidFill>
                  <a:srgbClr val="000000"/>
                </a:solidFill>
              </a:rPr>
              <a:t>Permeten </a:t>
            </a:r>
            <a:r>
              <a:rPr b="1" lang="ca" sz="1400">
                <a:solidFill>
                  <a:srgbClr val="000000"/>
                </a:solidFill>
              </a:rPr>
              <a:t>assignar drets d’accés</a:t>
            </a:r>
            <a:r>
              <a:rPr lang="ca" sz="1400">
                <a:solidFill>
                  <a:srgbClr val="000000"/>
                </a:solidFill>
              </a:rPr>
              <a:t> a arxius/directoris per a: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ca" sz="1400">
                <a:solidFill>
                  <a:srgbClr val="000000"/>
                </a:solidFill>
              </a:rPr>
              <a:t>Usuaris i grups d’usuaris.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9243"/>
              <a:buNone/>
            </a:pPr>
            <a:r>
              <a:rPr lang="ca" sz="1400">
                <a:solidFill>
                  <a:srgbClr val="000000"/>
                </a:solidFill>
              </a:rPr>
              <a:t>Es pot: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400">
                <a:solidFill>
                  <a:srgbClr val="000000"/>
                </a:solidFill>
              </a:rPr>
              <a:t>Restringir o permetre</a:t>
            </a:r>
            <a:r>
              <a:rPr lang="ca" sz="1400">
                <a:solidFill>
                  <a:srgbClr val="000000"/>
                </a:solidFill>
              </a:rPr>
              <a:t> l’accés.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400">
                <a:solidFill>
                  <a:srgbClr val="000000"/>
                </a:solidFill>
              </a:rPr>
              <a:t>Visualitzar contingut</a:t>
            </a:r>
            <a:r>
              <a:rPr lang="ca" sz="1400">
                <a:solidFill>
                  <a:srgbClr val="000000"/>
                </a:solidFill>
              </a:rPr>
              <a:t>, </a:t>
            </a:r>
            <a:r>
              <a:rPr b="1" lang="ca" sz="1400">
                <a:solidFill>
                  <a:srgbClr val="000000"/>
                </a:solidFill>
              </a:rPr>
              <a:t>modificar</a:t>
            </a:r>
            <a:r>
              <a:rPr lang="ca" sz="1400">
                <a:solidFill>
                  <a:srgbClr val="000000"/>
                </a:solidFill>
              </a:rPr>
              <a:t>, o </a:t>
            </a:r>
            <a:r>
              <a:rPr b="1" lang="ca" sz="1400">
                <a:solidFill>
                  <a:srgbClr val="000000"/>
                </a:solidFill>
              </a:rPr>
              <a:t>executar</a:t>
            </a:r>
            <a:r>
              <a:rPr lang="ca" sz="1400">
                <a:solidFill>
                  <a:srgbClr val="000000"/>
                </a:solidFill>
              </a:rPr>
              <a:t> fitxers.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Tipus de permisos a Windows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Permisos del sistema d’arxius (NTFS)</a:t>
            </a:r>
            <a:br>
              <a:rPr b="1"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Apliquen a </a:t>
            </a:r>
            <a:r>
              <a:rPr b="1" lang="ca" sz="1400">
                <a:solidFill>
                  <a:srgbClr val="000000"/>
                </a:solidFill>
              </a:rPr>
              <a:t>tots els arxius i directoris</a:t>
            </a:r>
            <a:r>
              <a:rPr lang="ca" sz="1400">
                <a:solidFill>
                  <a:srgbClr val="000000"/>
                </a:solidFill>
              </a:rPr>
              <a:t> emmagatzemats al volum.</a:t>
            </a:r>
            <a:br>
              <a:rPr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Són els permisos per defecte a Windows 10.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Permisos de recurs compartit</a:t>
            </a:r>
            <a:br>
              <a:rPr b="1"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Només s’apliquen als </a:t>
            </a:r>
            <a:r>
              <a:rPr b="1" lang="ca" sz="1400">
                <a:solidFill>
                  <a:srgbClr val="000000"/>
                </a:solidFill>
              </a:rPr>
              <a:t>directoris compartits</a:t>
            </a:r>
            <a:r>
              <a:rPr lang="ca" sz="1400">
                <a:solidFill>
                  <a:srgbClr val="000000"/>
                </a:solidFill>
              </a:rPr>
              <a:t> quan s’hi accedeix </a:t>
            </a:r>
            <a:r>
              <a:rPr b="1" lang="ca" sz="1400">
                <a:solidFill>
                  <a:srgbClr val="000000"/>
                </a:solidFill>
              </a:rPr>
              <a:t>remotament</a:t>
            </a:r>
            <a:r>
              <a:rPr lang="ca" sz="1400">
                <a:solidFill>
                  <a:srgbClr val="000000"/>
                </a:solidFill>
              </a:rPr>
              <a:t>.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8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Què és un perfil d’usuari?</a:t>
            </a:r>
            <a:endParaRPr/>
          </a:p>
        </p:txBody>
      </p:sp>
      <p:sp>
        <p:nvSpPr>
          <p:cNvPr id="766" name="Google Shape;766;p38"/>
          <p:cNvSpPr txBox="1"/>
          <p:nvPr>
            <p:ph idx="1" type="body"/>
          </p:nvPr>
        </p:nvSpPr>
        <p:spPr>
          <a:xfrm>
            <a:off x="654925" y="1290875"/>
            <a:ext cx="7871400" cy="3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9459"/>
              <a:buNone/>
            </a:pPr>
            <a:r>
              <a:rPr b="1" lang="ca" sz="1571">
                <a:solidFill>
                  <a:srgbClr val="000000"/>
                </a:solidFill>
              </a:rPr>
              <a:t>Visualització i configuració de permisos</a:t>
            </a:r>
            <a:endParaRPr b="1" sz="1571">
              <a:solidFill>
                <a:srgbClr val="000000"/>
              </a:solidFill>
            </a:endParaRPr>
          </a:p>
          <a:p>
            <a:pPr indent="-320939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ca" sz="1571">
                <a:solidFill>
                  <a:srgbClr val="000000"/>
                </a:solidFill>
              </a:rPr>
              <a:t>A </a:t>
            </a:r>
            <a:r>
              <a:rPr b="1" lang="ca" sz="1571">
                <a:solidFill>
                  <a:srgbClr val="000000"/>
                </a:solidFill>
              </a:rPr>
              <a:t>Windows 10</a:t>
            </a:r>
            <a:r>
              <a:rPr lang="ca" sz="1571">
                <a:solidFill>
                  <a:srgbClr val="000000"/>
                </a:solidFill>
              </a:rPr>
              <a:t>, fer clic dret a l’arxiu/directori &gt; </a:t>
            </a:r>
            <a:r>
              <a:rPr b="1" lang="ca" sz="1571">
                <a:solidFill>
                  <a:srgbClr val="000000"/>
                </a:solidFill>
              </a:rPr>
              <a:t>Propietats</a:t>
            </a:r>
            <a:r>
              <a:rPr lang="ca" sz="1571">
                <a:solidFill>
                  <a:srgbClr val="000000"/>
                </a:solidFill>
              </a:rPr>
              <a:t> &gt; pestanya </a:t>
            </a:r>
            <a:r>
              <a:rPr b="1" lang="ca" sz="1571">
                <a:solidFill>
                  <a:srgbClr val="000000"/>
                </a:solidFill>
              </a:rPr>
              <a:t>Seguretat</a:t>
            </a:r>
            <a:r>
              <a:rPr lang="ca" sz="1571">
                <a:solidFill>
                  <a:srgbClr val="000000"/>
                </a:solidFill>
              </a:rPr>
              <a:t>.</a:t>
            </a:r>
            <a:br>
              <a:rPr lang="ca" sz="1571">
                <a:solidFill>
                  <a:srgbClr val="000000"/>
                </a:solidFill>
              </a:rPr>
            </a:br>
            <a:endParaRPr sz="1571">
              <a:solidFill>
                <a:srgbClr val="000000"/>
              </a:solidFill>
            </a:endParaRPr>
          </a:p>
          <a:p>
            <a:pPr indent="-3209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ca" sz="1571">
                <a:solidFill>
                  <a:srgbClr val="000000"/>
                </a:solidFill>
              </a:rPr>
              <a:t>Es poden veure:</a:t>
            </a:r>
            <a:br>
              <a:rPr lang="ca" sz="1571">
                <a:solidFill>
                  <a:srgbClr val="000000"/>
                </a:solidFill>
              </a:rPr>
            </a:br>
            <a:endParaRPr sz="1571">
              <a:solidFill>
                <a:srgbClr val="000000"/>
              </a:solidFill>
            </a:endParaRPr>
          </a:p>
          <a:p>
            <a:pPr indent="-320939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○"/>
            </a:pPr>
            <a:r>
              <a:rPr lang="ca" sz="1571">
                <a:solidFill>
                  <a:srgbClr val="000000"/>
                </a:solidFill>
              </a:rPr>
              <a:t>Els usuaris i grups amb permisos.</a:t>
            </a:r>
            <a:br>
              <a:rPr lang="ca" sz="1571">
                <a:solidFill>
                  <a:srgbClr val="000000"/>
                </a:solidFill>
              </a:rPr>
            </a:br>
            <a:endParaRPr sz="1571">
              <a:solidFill>
                <a:srgbClr val="000000"/>
              </a:solidFill>
            </a:endParaRPr>
          </a:p>
          <a:p>
            <a:pPr indent="-320939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○"/>
            </a:pPr>
            <a:r>
              <a:rPr lang="ca" sz="1571">
                <a:solidFill>
                  <a:srgbClr val="000000"/>
                </a:solidFill>
              </a:rPr>
              <a:t>El tipus de permisos assignats.</a:t>
            </a:r>
            <a:br>
              <a:rPr lang="ca" sz="1571">
                <a:solidFill>
                  <a:srgbClr val="000000"/>
                </a:solidFill>
              </a:rPr>
            </a:br>
            <a:endParaRPr sz="1571">
              <a:solidFill>
                <a:srgbClr val="000000"/>
              </a:solidFill>
            </a:endParaRPr>
          </a:p>
          <a:p>
            <a:pPr indent="-3209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ca" sz="1571">
                <a:solidFill>
                  <a:srgbClr val="000000"/>
                </a:solidFill>
              </a:rPr>
              <a:t>Exemple:</a:t>
            </a:r>
            <a:br>
              <a:rPr lang="ca" sz="1571">
                <a:solidFill>
                  <a:srgbClr val="000000"/>
                </a:solidFill>
              </a:rPr>
            </a:br>
            <a:r>
              <a:rPr lang="ca" sz="1571">
                <a:solidFill>
                  <a:srgbClr val="000000"/>
                </a:solidFill>
              </a:rPr>
              <a:t> ➤ Arxiu </a:t>
            </a:r>
            <a:r>
              <a:rPr lang="ca" sz="1571">
                <a:solidFill>
                  <a:srgbClr val="188038"/>
                </a:solidFill>
              </a:rPr>
              <a:t>arxiu.txt</a:t>
            </a:r>
            <a:r>
              <a:rPr lang="ca" sz="1571">
                <a:solidFill>
                  <a:srgbClr val="000000"/>
                </a:solidFill>
              </a:rPr>
              <a:t> dins el directori </a:t>
            </a:r>
            <a:r>
              <a:rPr lang="ca" sz="1571">
                <a:solidFill>
                  <a:srgbClr val="188038"/>
                </a:solidFill>
              </a:rPr>
              <a:t>directori</a:t>
            </a:r>
            <a:r>
              <a:rPr lang="ca" sz="1571">
                <a:solidFill>
                  <a:srgbClr val="000000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9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Permisos del sistema d’arxius per directoris i arxius.</a:t>
            </a:r>
            <a:endParaRPr/>
          </a:p>
        </p:txBody>
      </p:sp>
      <p:pic>
        <p:nvPicPr>
          <p:cNvPr id="772" name="Google Shape;7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438" y="190500"/>
            <a:ext cx="5567827" cy="38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0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Permisos NTFS per a arxius (Windows 10)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78" name="Google Shape;778;p40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Control total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Inclou tots els permisos següents, i també prendre la propietat.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Modificar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Permet modificar i eliminar l’arxiu, i configurar accions com escriptura, lectura i execució.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Lectura i execució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Permet veure i executar l’arxiu.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Lectura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Permet veure el contingut, el propietari i els permisos.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Escriptura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Permet sobreescriure, canviar atributs i veure el propietari i els permisos.</a:t>
            </a:r>
            <a:br>
              <a:rPr lang="ca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200">
                <a:solidFill>
                  <a:srgbClr val="000000"/>
                </a:solidFill>
              </a:rPr>
              <a:t>Permisos especials</a:t>
            </a:r>
            <a:br>
              <a:rPr b="1" lang="ca" sz="1200">
                <a:solidFill>
                  <a:srgbClr val="000000"/>
                </a:solidFill>
              </a:rPr>
            </a:br>
            <a:r>
              <a:rPr lang="ca" sz="1200">
                <a:solidFill>
                  <a:srgbClr val="000000"/>
                </a:solidFill>
              </a:rPr>
              <a:t> Són permisos avançats disponibles des del botó </a:t>
            </a:r>
            <a:r>
              <a:rPr i="1" lang="ca" sz="1200">
                <a:solidFill>
                  <a:srgbClr val="000000"/>
                </a:solidFill>
              </a:rPr>
              <a:t>Opcions avançades</a:t>
            </a:r>
            <a:r>
              <a:rPr lang="ca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2"/>
          <p:cNvSpPr txBox="1"/>
          <p:nvPr>
            <p:ph type="title"/>
          </p:nvPr>
        </p:nvSpPr>
        <p:spPr>
          <a:xfrm>
            <a:off x="1138175" y="1509650"/>
            <a:ext cx="7030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ca" sz="4000"/>
              <a:t>1.3 Utilitza eines gràfiques per a descriure l’organització dels arxius del sistema - </a:t>
            </a:r>
            <a:r>
              <a:rPr lang="ca" sz="4000">
                <a:solidFill>
                  <a:srgbClr val="4A86E8"/>
                </a:solidFill>
              </a:rPr>
              <a:t>Linux</a:t>
            </a:r>
            <a:endParaRPr sz="40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3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/>
              <a:t>Gestió del sistema d’arxius (GNU/Linux)</a:t>
            </a:r>
            <a:endParaRPr/>
          </a:p>
        </p:txBody>
      </p:sp>
      <p:sp>
        <p:nvSpPr>
          <p:cNvPr id="789" name="Google Shape;789;p43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6486"/>
              <a:buNone/>
            </a:pPr>
            <a:r>
              <a:rPr b="1" lang="ca" sz="1625">
                <a:solidFill>
                  <a:srgbClr val="000000"/>
                </a:solidFill>
              </a:rPr>
              <a:t>🔧 Tasques bàsiques d’administració:</a:t>
            </a:r>
            <a:endParaRPr b="1" sz="1625">
              <a:solidFill>
                <a:srgbClr val="000000"/>
              </a:solidFill>
            </a:endParaRPr>
          </a:p>
          <a:p>
            <a:pPr indent="-324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625">
                <a:solidFill>
                  <a:srgbClr val="000000"/>
                </a:solidFill>
              </a:rPr>
              <a:t>Muntar o desmuntar sistemes d’arxius</a:t>
            </a:r>
            <a:br>
              <a:rPr b="1" lang="ca" sz="1625">
                <a:solidFill>
                  <a:srgbClr val="000000"/>
                </a:solidFill>
              </a:rPr>
            </a:br>
            <a:r>
              <a:rPr lang="ca" sz="1625">
                <a:solidFill>
                  <a:srgbClr val="000000"/>
                </a:solidFill>
              </a:rPr>
              <a:t> ➤ Fer accessibles o desconnectar dispositius o particions.</a:t>
            </a:r>
            <a:br>
              <a:rPr lang="ca" sz="1625">
                <a:solidFill>
                  <a:srgbClr val="000000"/>
                </a:solidFill>
              </a:rPr>
            </a:br>
            <a:endParaRPr sz="1625">
              <a:solidFill>
                <a:srgbClr val="000000"/>
              </a:solidFill>
            </a:endParaRPr>
          </a:p>
          <a:p>
            <a:pPr indent="-324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625">
                <a:solidFill>
                  <a:srgbClr val="000000"/>
                </a:solidFill>
              </a:rPr>
              <a:t>Revisar l’estat del sistema d’arxius</a:t>
            </a:r>
            <a:br>
              <a:rPr b="1" lang="ca" sz="1625">
                <a:solidFill>
                  <a:srgbClr val="000000"/>
                </a:solidFill>
              </a:rPr>
            </a:br>
            <a:r>
              <a:rPr lang="ca" sz="1625">
                <a:solidFill>
                  <a:srgbClr val="000000"/>
                </a:solidFill>
              </a:rPr>
              <a:t> ➤ Detectar problemes o incoherències.</a:t>
            </a:r>
            <a:br>
              <a:rPr lang="ca" sz="1625">
                <a:solidFill>
                  <a:srgbClr val="000000"/>
                </a:solidFill>
              </a:rPr>
            </a:br>
            <a:endParaRPr sz="1625">
              <a:solidFill>
                <a:srgbClr val="000000"/>
              </a:solidFill>
            </a:endParaRPr>
          </a:p>
          <a:p>
            <a:pPr indent="-324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625">
                <a:solidFill>
                  <a:srgbClr val="000000"/>
                </a:solidFill>
              </a:rPr>
              <a:t>Reparar sistemes d’arxius defectuosos</a:t>
            </a:r>
            <a:br>
              <a:rPr b="1" lang="ca" sz="1625">
                <a:solidFill>
                  <a:srgbClr val="000000"/>
                </a:solidFill>
              </a:rPr>
            </a:br>
            <a:r>
              <a:rPr lang="ca" sz="1625">
                <a:solidFill>
                  <a:srgbClr val="000000"/>
                </a:solidFill>
              </a:rPr>
              <a:t> ➤ Corregir errors en blocs o estructures de fitxers.</a:t>
            </a:r>
            <a:br>
              <a:rPr lang="ca" sz="1625">
                <a:solidFill>
                  <a:srgbClr val="000000"/>
                </a:solidFill>
              </a:rPr>
            </a:br>
            <a:endParaRPr sz="1625">
              <a:solidFill>
                <a:srgbClr val="000000"/>
              </a:solidFill>
            </a:endParaRPr>
          </a:p>
          <a:p>
            <a:pPr indent="-324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ca" sz="1625">
                <a:solidFill>
                  <a:srgbClr val="000000"/>
                </a:solidFill>
              </a:rPr>
              <a:t>Gestionar l’espai de disc</a:t>
            </a:r>
            <a:r>
              <a:rPr lang="ca" sz="1625">
                <a:solidFill>
                  <a:srgbClr val="000000"/>
                </a:solidFill>
              </a:rPr>
              <a:t> disponible per a cada usuari.</a:t>
            </a:r>
            <a:br>
              <a:rPr lang="ca" sz="1625">
                <a:solidFill>
                  <a:srgbClr val="000000"/>
                </a:solidFill>
              </a:rPr>
            </a:br>
            <a:r>
              <a:rPr lang="ca" sz="1625">
                <a:solidFill>
                  <a:srgbClr val="000000"/>
                </a:solidFill>
              </a:rPr>
              <a:t> ➤ Controlar l’ús amb quotes o eines d’anàlisi.</a:t>
            </a:r>
            <a:br>
              <a:rPr lang="ca" sz="1625">
                <a:solidFill>
                  <a:srgbClr val="000000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Muntatge i desmuntatge de particions (GNU/Linux)</a:t>
            </a:r>
            <a:endParaRPr/>
          </a:p>
        </p:txBody>
      </p:sp>
      <p:sp>
        <p:nvSpPr>
          <p:cNvPr id="795" name="Google Shape;795;p44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🔹 Què és muntar una partició?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Fer accessible un sistema d’arxius des d’un directori del sistema.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Aquest directori rep el nom de punt de muntatge.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📌 Punt de muntatge: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Directori utilitzat com a mitjà per accedir al contingut del dispositiu d’emmagatzematge.</a:t>
            </a:r>
            <a:endParaRPr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5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Muntatge i desmuntatge de particions (GNU/Linux)</a:t>
            </a:r>
            <a:endParaRPr/>
          </a:p>
        </p:txBody>
      </p:sp>
      <p:sp>
        <p:nvSpPr>
          <p:cNvPr id="801" name="Google Shape;801;p45"/>
          <p:cNvSpPr txBox="1"/>
          <p:nvPr>
            <p:ph idx="1" type="body"/>
          </p:nvPr>
        </p:nvSpPr>
        <p:spPr>
          <a:xfrm>
            <a:off x="654925" y="1290875"/>
            <a:ext cx="78714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400"/>
              <a:t>🖥️ Diferències amb Windows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Windows: assigna una lletra (ex: C:) a cada unitat.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Linux: munta el dispositiu en un directori de l’arbre del sistema.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ca" sz="1400"/>
              <a:t>🔧 Muntatge en mode gràfic i mode ordre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Mode gràfic: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➤ Doble clic sobre una unitat → es munta automàticament i es mostra el contingut.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Mode ordre (terminal):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➤ Comanda mount per muntar manualment.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/>
              <a:t>➤ Edició de l’arxiu /etc/fstab per muntatge permanent.</a:t>
            </a:r>
            <a:endParaRPr sz="1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6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🛠️ Ordre </a:t>
            </a:r>
            <a:r>
              <a:rPr lang="ca">
                <a:solidFill>
                  <a:srgbClr val="188038"/>
                </a:solidFill>
              </a:rPr>
              <a:t>mount </a:t>
            </a:r>
            <a:r>
              <a:rPr lang="ca"/>
              <a:t>– Sintaxi i opcions bàsiques</a:t>
            </a:r>
            <a:endParaRPr/>
          </a:p>
        </p:txBody>
      </p:sp>
      <p:sp>
        <p:nvSpPr>
          <p:cNvPr id="807" name="Google Shape;807;p46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🔹 Sintaxi general: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mount [opcions] [dispositiu] [punt de muntatge]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🔧 </a:t>
            </a:r>
            <a:r>
              <a:rPr b="1" lang="ca"/>
              <a:t>Opcions habituals: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-a ➤ Munta tots els sistemes definits a /etc/fstab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-r ➤ Munta en mode només lectura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-t ➤ Especifica el tipus de sistema d’arxius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(ex: ext4, vfat, ntfs...)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7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🛠️ Ordre </a:t>
            </a:r>
            <a:r>
              <a:rPr lang="ca">
                <a:solidFill>
                  <a:srgbClr val="188038"/>
                </a:solidFill>
              </a:rPr>
              <a:t>mount </a:t>
            </a:r>
            <a:r>
              <a:rPr lang="ca"/>
              <a:t>– Sintaxi i opcions bàsiques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13" name="Google Shape;813;p47"/>
          <p:cNvSpPr txBox="1"/>
          <p:nvPr>
            <p:ph idx="1" type="body"/>
          </p:nvPr>
        </p:nvSpPr>
        <p:spPr>
          <a:xfrm>
            <a:off x="451725" y="1265475"/>
            <a:ext cx="78714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📁 Elements clau: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ca">
                <a:solidFill>
                  <a:srgbClr val="000000"/>
                </a:solidFill>
              </a:rPr>
              <a:t>Dispositiu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Arxiu de dispositiu, com </a:t>
            </a:r>
            <a:r>
              <a:rPr lang="ca">
                <a:solidFill>
                  <a:srgbClr val="188038"/>
                </a:solidFill>
              </a:rPr>
              <a:t>/dev/sda1</a:t>
            </a:r>
            <a:r>
              <a:rPr lang="ca">
                <a:solidFill>
                  <a:srgbClr val="000000"/>
                </a:solidFill>
              </a:rPr>
              <a:t> o </a:t>
            </a:r>
            <a:r>
              <a:rPr lang="ca">
                <a:solidFill>
                  <a:srgbClr val="188038"/>
                </a:solidFill>
              </a:rPr>
              <a:t>/dev/cdrom</a:t>
            </a:r>
            <a:br>
              <a:rPr lang="ca">
                <a:solidFill>
                  <a:srgbClr val="188038"/>
                </a:solidFill>
              </a:rPr>
            </a:br>
            <a:endParaRPr>
              <a:solidFill>
                <a:srgbClr val="188038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ca">
                <a:solidFill>
                  <a:srgbClr val="000000"/>
                </a:solidFill>
              </a:rPr>
              <a:t>Punt de muntatge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➤ Directori on s'accedeix al contingut (habitualment </a:t>
            </a:r>
            <a:r>
              <a:rPr lang="ca">
                <a:solidFill>
                  <a:srgbClr val="188038"/>
                </a:solidFill>
              </a:rPr>
              <a:t>/mnt</a:t>
            </a:r>
            <a:r>
              <a:rPr lang="ca">
                <a:solidFill>
                  <a:srgbClr val="000000"/>
                </a:solidFill>
              </a:rPr>
              <a:t> o </a:t>
            </a:r>
            <a:r>
              <a:rPr lang="ca">
                <a:solidFill>
                  <a:srgbClr val="188038"/>
                </a:solidFill>
              </a:rPr>
              <a:t>/media</a:t>
            </a:r>
            <a:r>
              <a:rPr lang="ca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000000"/>
                </a:solidFill>
              </a:rPr>
              <a:t>📌 </a:t>
            </a:r>
            <a:r>
              <a:rPr b="1" lang="ca">
                <a:solidFill>
                  <a:srgbClr val="000000"/>
                </a:solidFill>
              </a:rPr>
              <a:t>Notes importants: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000000"/>
                </a:solidFill>
              </a:rPr>
              <a:t>Si el punt de muntatge conté informació, aquesta quedarà </a:t>
            </a:r>
            <a:r>
              <a:rPr b="1" lang="ca">
                <a:solidFill>
                  <a:srgbClr val="000000"/>
                </a:solidFill>
              </a:rPr>
              <a:t>inaccessible</a:t>
            </a:r>
            <a:r>
              <a:rPr lang="ca">
                <a:solidFill>
                  <a:srgbClr val="000000"/>
                </a:solidFill>
              </a:rPr>
              <a:t> fins a desmuntar.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000000"/>
                </a:solidFill>
              </a:rPr>
              <a:t>Les operacions de muntatge es registren a </a:t>
            </a:r>
            <a:r>
              <a:rPr b="1" lang="ca">
                <a:solidFill>
                  <a:srgbClr val="188038"/>
                </a:solidFill>
              </a:rPr>
              <a:t>/etc/mtab</a:t>
            </a:r>
            <a:r>
              <a:rPr lang="ca">
                <a:solidFill>
                  <a:srgbClr val="000000"/>
                </a:solidFill>
              </a:rPr>
              <a:t>, que mostra els sistemes muntats actualment.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8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🛠️ Ordre </a:t>
            </a:r>
            <a:r>
              <a:rPr lang="ca">
                <a:solidFill>
                  <a:srgbClr val="188038"/>
                </a:solidFill>
              </a:rPr>
              <a:t>umount </a:t>
            </a:r>
            <a:r>
              <a:rPr lang="ca"/>
              <a:t>– Desmuntar sistemes d’arxius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19" name="Google Shape;819;p48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🔹 Sintaxi bàsica: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>
                <a:solidFill>
                  <a:srgbClr val="188038"/>
                </a:solidFill>
              </a:rPr>
              <a:t>umount [opcions] [dispositiu | punt de muntatge]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000000"/>
                </a:solidFill>
              </a:rPr>
              <a:t>Només cal indicar </a:t>
            </a:r>
            <a:r>
              <a:rPr b="1" lang="ca">
                <a:solidFill>
                  <a:srgbClr val="000000"/>
                </a:solidFill>
              </a:rPr>
              <a:t>un dels dos</a:t>
            </a:r>
            <a:r>
              <a:rPr lang="ca">
                <a:solidFill>
                  <a:srgbClr val="000000"/>
                </a:solidFill>
              </a:rPr>
              <a:t>: el dispositiu o el punt de muntatge.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🔧 Opcions destacades: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188038"/>
                </a:solidFill>
              </a:rPr>
              <a:t>-a</a:t>
            </a:r>
            <a:r>
              <a:rPr lang="ca">
                <a:solidFill>
                  <a:srgbClr val="000000"/>
                </a:solidFill>
              </a:rPr>
              <a:t> ➤ Desmunta </a:t>
            </a:r>
            <a:r>
              <a:rPr b="1" lang="ca">
                <a:solidFill>
                  <a:srgbClr val="000000"/>
                </a:solidFill>
              </a:rPr>
              <a:t>tots</a:t>
            </a:r>
            <a:r>
              <a:rPr lang="ca">
                <a:solidFill>
                  <a:srgbClr val="000000"/>
                </a:solidFill>
              </a:rPr>
              <a:t> els sistemes d’arxius indicats a </a:t>
            </a:r>
            <a:r>
              <a:rPr lang="ca">
                <a:solidFill>
                  <a:srgbClr val="188038"/>
                </a:solidFill>
              </a:rPr>
              <a:t>/etc/mtab</a:t>
            </a:r>
            <a:br>
              <a:rPr lang="ca">
                <a:solidFill>
                  <a:srgbClr val="188038"/>
                </a:solidFill>
              </a:rPr>
            </a:br>
            <a:r>
              <a:rPr lang="ca">
                <a:solidFill>
                  <a:srgbClr val="000000"/>
                </a:solidFill>
              </a:rPr>
              <a:t> (excepte els essencials com el directori arrel)</a:t>
            </a:r>
            <a:br>
              <a:rPr lang="ca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ca">
                <a:solidFill>
                  <a:srgbClr val="188038"/>
                </a:solidFill>
              </a:rPr>
              <a:t>-r</a:t>
            </a:r>
            <a:r>
              <a:rPr lang="ca">
                <a:solidFill>
                  <a:srgbClr val="000000"/>
                </a:solidFill>
              </a:rPr>
              <a:t> ➤ Si no pot desmuntar, reintenta en </a:t>
            </a:r>
            <a:r>
              <a:rPr b="1" lang="ca">
                <a:solidFill>
                  <a:srgbClr val="000000"/>
                </a:solidFill>
              </a:rPr>
              <a:t>mode només lectura</a:t>
            </a:r>
            <a:endParaRPr sz="1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9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🛠️ Ordre </a:t>
            </a:r>
            <a:r>
              <a:rPr lang="ca">
                <a:solidFill>
                  <a:srgbClr val="188038"/>
                </a:solidFill>
              </a:rPr>
              <a:t>umount </a:t>
            </a:r>
            <a:r>
              <a:rPr lang="ca"/>
              <a:t>– Desmuntar sistemes d’arxius</a:t>
            </a:r>
            <a:endParaRPr/>
          </a:p>
        </p:txBody>
      </p:sp>
      <p:sp>
        <p:nvSpPr>
          <p:cNvPr id="825" name="Google Shape;825;p49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✅ Exemple pràctic: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188038"/>
                </a:solidFill>
              </a:rPr>
              <a:t>umount /media/cdrom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o bé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188038"/>
                </a:solidFill>
              </a:rPr>
              <a:t>umount /dev/cdrom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ca" sz="1400">
                <a:solidFill>
                  <a:srgbClr val="000000"/>
                </a:solidFill>
              </a:rPr>
              <a:t>📁 </a:t>
            </a:r>
            <a:r>
              <a:rPr b="1" lang="ca" sz="1400">
                <a:solidFill>
                  <a:srgbClr val="000000"/>
                </a:solidFill>
              </a:rPr>
              <a:t>Nota important: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ca" sz="1400">
                <a:solidFill>
                  <a:srgbClr val="000000"/>
                </a:solidFill>
              </a:rPr>
              <a:t>El fitxer </a:t>
            </a:r>
            <a:r>
              <a:rPr b="1" lang="ca" sz="1400">
                <a:solidFill>
                  <a:srgbClr val="188038"/>
                </a:solidFill>
              </a:rPr>
              <a:t>/etc/fstab</a:t>
            </a:r>
            <a:r>
              <a:rPr lang="ca" sz="1400">
                <a:solidFill>
                  <a:srgbClr val="000000"/>
                </a:solidFill>
              </a:rPr>
              <a:t> conté la configuració dels sistemes d’arxius que s’han de muntar automàticament en iniciar el sistema.</a:t>
            </a:r>
            <a:endParaRPr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0"/>
          <p:cNvSpPr txBox="1"/>
          <p:nvPr>
            <p:ph idx="1" type="body"/>
          </p:nvPr>
        </p:nvSpPr>
        <p:spPr>
          <a:xfrm>
            <a:off x="922800" y="44945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ca"/>
              <a:t>Arxiu ’/etc/fstab’</a:t>
            </a:r>
            <a:endParaRPr/>
          </a:p>
        </p:txBody>
      </p:sp>
      <p:pic>
        <p:nvPicPr>
          <p:cNvPr id="831" name="Google Shape;8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50" y="328975"/>
            <a:ext cx="8137550" cy="40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1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📁 Fitxer /etc/fstab – Configuració de muntatge automàtic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37" name="Google Shape;837;p51"/>
          <p:cNvSpPr txBox="1"/>
          <p:nvPr>
            <p:ph idx="1" type="body"/>
          </p:nvPr>
        </p:nvSpPr>
        <p:spPr>
          <a:xfrm>
            <a:off x="636300" y="1479275"/>
            <a:ext cx="7871400" cy="3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 sz="1400">
                <a:solidFill>
                  <a:srgbClr val="000000"/>
                </a:solidFill>
              </a:rPr>
              <a:t>🔹 Contingut de cada línia: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ca" sz="1400">
                <a:solidFill>
                  <a:srgbClr val="000000"/>
                </a:solidFill>
              </a:rPr>
              <a:t>Dispositiu</a:t>
            </a:r>
            <a:br>
              <a:rPr b="1"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</a:t>
            </a:r>
            <a:r>
              <a:rPr lang="ca" sz="1400">
                <a:solidFill>
                  <a:srgbClr val="188038"/>
                </a:solidFill>
              </a:rPr>
              <a:t>/dev/sda1</a:t>
            </a:r>
            <a:r>
              <a:rPr lang="ca" sz="1400">
                <a:solidFill>
                  <a:srgbClr val="000000"/>
                </a:solidFill>
              </a:rPr>
              <a:t> o UUID</a:t>
            </a:r>
            <a:br>
              <a:rPr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(Identifica la partició o dispositiu)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ca" sz="1400">
                <a:solidFill>
                  <a:srgbClr val="000000"/>
                </a:solidFill>
              </a:rPr>
              <a:t>Punt de muntatge</a:t>
            </a:r>
            <a:br>
              <a:rPr b="1"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Directori on es muntarà el dispositiu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ca" sz="1400">
                <a:solidFill>
                  <a:srgbClr val="000000"/>
                </a:solidFill>
              </a:rPr>
              <a:t>Tipus de sistema d’arxius</a:t>
            </a:r>
            <a:br>
              <a:rPr b="1" lang="ca" sz="1400">
                <a:solidFill>
                  <a:srgbClr val="000000"/>
                </a:solidFill>
              </a:rPr>
            </a:br>
            <a:r>
              <a:rPr lang="ca" sz="1400">
                <a:solidFill>
                  <a:srgbClr val="000000"/>
                </a:solidFill>
              </a:rPr>
              <a:t> ➤ Ex: </a:t>
            </a:r>
            <a:r>
              <a:rPr lang="ca" sz="1400">
                <a:solidFill>
                  <a:srgbClr val="188038"/>
                </a:solidFill>
              </a:rPr>
              <a:t>ext4</a:t>
            </a:r>
            <a:r>
              <a:rPr lang="ca" sz="1400">
                <a:solidFill>
                  <a:srgbClr val="000000"/>
                </a:solidFill>
              </a:rPr>
              <a:t>, </a:t>
            </a:r>
            <a:r>
              <a:rPr lang="ca" sz="1400">
                <a:solidFill>
                  <a:srgbClr val="188038"/>
                </a:solidFill>
              </a:rPr>
              <a:t>vfat</a:t>
            </a:r>
            <a:r>
              <a:rPr lang="ca" sz="1400">
                <a:solidFill>
                  <a:srgbClr val="000000"/>
                </a:solidFill>
              </a:rPr>
              <a:t>, </a:t>
            </a:r>
            <a:r>
              <a:rPr lang="ca" sz="1400">
                <a:solidFill>
                  <a:srgbClr val="188038"/>
                </a:solidFill>
              </a:rPr>
              <a:t>ntfs</a:t>
            </a:r>
            <a:r>
              <a:rPr lang="ca" sz="1400">
                <a:solidFill>
                  <a:srgbClr val="000000"/>
                </a:solidFill>
              </a:rPr>
              <a:t>…</a:t>
            </a:r>
            <a:br>
              <a:rPr lang="ca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2"/>
          <p:cNvSpPr txBox="1"/>
          <p:nvPr>
            <p:ph type="title"/>
          </p:nvPr>
        </p:nvSpPr>
        <p:spPr>
          <a:xfrm>
            <a:off x="920150" y="219675"/>
            <a:ext cx="7606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a"/>
              <a:t>📁 Fitxer /etc/fstab – Configuració de muntatge automàtic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43" name="Google Shape;843;p52"/>
          <p:cNvSpPr txBox="1"/>
          <p:nvPr>
            <p:ph idx="1" type="body"/>
          </p:nvPr>
        </p:nvSpPr>
        <p:spPr>
          <a:xfrm>
            <a:off x="654925" y="1290875"/>
            <a:ext cx="7871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4.  Opcions de muntatge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ca" sz="1300">
                <a:solidFill>
                  <a:srgbClr val="188038"/>
                </a:solidFill>
              </a:rPr>
              <a:t>auto / noauto</a:t>
            </a:r>
            <a:r>
              <a:rPr lang="ca" sz="1300">
                <a:solidFill>
                  <a:srgbClr val="000000"/>
                </a:solidFill>
              </a:rPr>
              <a:t> – Muntar automàticament o no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ca" sz="1300">
                <a:solidFill>
                  <a:srgbClr val="188038"/>
                </a:solidFill>
              </a:rPr>
              <a:t>exec / noexec</a:t>
            </a:r>
            <a:r>
              <a:rPr lang="ca" sz="1300">
                <a:solidFill>
                  <a:srgbClr val="000000"/>
                </a:solidFill>
              </a:rPr>
              <a:t> – Permetre executar binaris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ca" sz="1300">
                <a:solidFill>
                  <a:srgbClr val="188038"/>
                </a:solidFill>
              </a:rPr>
              <a:t>ro / rw</a:t>
            </a:r>
            <a:r>
              <a:rPr lang="ca" sz="1300">
                <a:solidFill>
                  <a:srgbClr val="000000"/>
                </a:solidFill>
              </a:rPr>
              <a:t> – Només lectura / Lectura-escriptura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ca" sz="1300">
                <a:solidFill>
                  <a:srgbClr val="188038"/>
                </a:solidFill>
              </a:rPr>
              <a:t>user / nouser</a:t>
            </a:r>
            <a:r>
              <a:rPr lang="ca" sz="1300">
                <a:solidFill>
                  <a:srgbClr val="000000"/>
                </a:solidFill>
              </a:rPr>
              <a:t> – Permetre que l’usuari pugui muntar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ca" sz="1300">
                <a:solidFill>
                  <a:srgbClr val="188038"/>
                </a:solidFill>
              </a:rPr>
              <a:t>sync / async</a:t>
            </a:r>
            <a:r>
              <a:rPr lang="ca" sz="1300">
                <a:solidFill>
                  <a:srgbClr val="000000"/>
                </a:solidFill>
              </a:rPr>
              <a:t> – Escriptura immediata o diferida</a:t>
            </a:r>
            <a:br>
              <a:rPr lang="ca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ca">
                <a:solidFill>
                  <a:srgbClr val="000000"/>
                </a:solidFill>
              </a:rPr>
              <a:t>5. 	Còpia de seguretat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	➤ </a:t>
            </a:r>
            <a:r>
              <a:rPr lang="ca">
                <a:solidFill>
                  <a:srgbClr val="188038"/>
                </a:solidFill>
              </a:rPr>
              <a:t>1</a:t>
            </a:r>
            <a:r>
              <a:rPr lang="ca">
                <a:solidFill>
                  <a:srgbClr val="000000"/>
                </a:solidFill>
              </a:rPr>
              <a:t> = activa / </a:t>
            </a:r>
            <a:r>
              <a:rPr lang="ca">
                <a:solidFill>
                  <a:srgbClr val="188038"/>
                </a:solidFill>
              </a:rPr>
              <a:t>0</a:t>
            </a:r>
            <a:r>
              <a:rPr lang="ca">
                <a:solidFill>
                  <a:srgbClr val="000000"/>
                </a:solidFill>
              </a:rPr>
              <a:t> = no</a:t>
            </a:r>
            <a:br>
              <a:rPr lang="ca">
                <a:solidFill>
                  <a:srgbClr val="000000"/>
                </a:solidFill>
              </a:rPr>
            </a:br>
            <a:r>
              <a:rPr b="1" lang="ca">
                <a:solidFill>
                  <a:srgbClr val="000000"/>
                </a:solidFill>
              </a:rPr>
              <a:t>6</a:t>
            </a:r>
            <a:r>
              <a:rPr lang="ca">
                <a:solidFill>
                  <a:srgbClr val="000000"/>
                </a:solidFill>
              </a:rPr>
              <a:t>. 	</a:t>
            </a:r>
            <a:r>
              <a:rPr b="1" lang="ca">
                <a:solidFill>
                  <a:srgbClr val="000000"/>
                </a:solidFill>
              </a:rPr>
              <a:t>Revisió del sistema d’arxius</a:t>
            </a:r>
            <a:br>
              <a:rPr b="1" lang="ca">
                <a:solidFill>
                  <a:srgbClr val="000000"/>
                </a:solidFill>
              </a:rPr>
            </a:br>
            <a:r>
              <a:rPr lang="ca">
                <a:solidFill>
                  <a:srgbClr val="000000"/>
                </a:solidFill>
              </a:rPr>
              <a:t> 	➤ </a:t>
            </a:r>
            <a:r>
              <a:rPr lang="ca">
                <a:solidFill>
                  <a:srgbClr val="188038"/>
                </a:solidFill>
              </a:rPr>
              <a:t>0</a:t>
            </a:r>
            <a:r>
              <a:rPr lang="ca">
                <a:solidFill>
                  <a:srgbClr val="000000"/>
                </a:solidFill>
              </a:rPr>
              <a:t> = no revisar / </a:t>
            </a:r>
            <a:r>
              <a:rPr lang="ca">
                <a:solidFill>
                  <a:srgbClr val="188038"/>
                </a:solidFill>
              </a:rPr>
              <a:t>1</a:t>
            </a:r>
            <a:r>
              <a:rPr lang="ca">
                <a:solidFill>
                  <a:srgbClr val="000000"/>
                </a:solidFill>
              </a:rPr>
              <a:t> = revisar a l'inici</a:t>
            </a:r>
            <a:endParaRPr sz="15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3"/>
          <p:cNvSpPr txBox="1"/>
          <p:nvPr>
            <p:ph type="title"/>
          </p:nvPr>
        </p:nvSpPr>
        <p:spPr>
          <a:xfrm>
            <a:off x="1056750" y="1696025"/>
            <a:ext cx="7030500" cy="9993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a" sz="4000"/>
              <a:t>ACTIVITAT 1	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